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5"/>
  </p:notesMasterIdLst>
  <p:sldIdLst>
    <p:sldId id="256" r:id="rId2"/>
    <p:sldId id="257" r:id="rId3"/>
    <p:sldId id="286" r:id="rId4"/>
    <p:sldId id="280" r:id="rId5"/>
    <p:sldId id="283" r:id="rId6"/>
    <p:sldId id="284" r:id="rId7"/>
    <p:sldId id="285" r:id="rId8"/>
    <p:sldId id="281" r:id="rId9"/>
    <p:sldId id="288" r:id="rId10"/>
    <p:sldId id="289" r:id="rId11"/>
    <p:sldId id="287" r:id="rId12"/>
    <p:sldId id="260" r:id="rId13"/>
    <p:sldId id="275" r:id="rId14"/>
  </p:sldIdLst>
  <p:sldSz cx="14630400" cy="8229600"/>
  <p:notesSz cx="8229600" cy="14630400"/>
  <p:embeddedFontLst>
    <p:embeddedFont>
      <p:font typeface="Inter" panose="020B0604020202020204" charset="0"/>
      <p:regular r:id="rId16"/>
    </p:embeddedFont>
    <p:embeddedFont>
      <p:font typeface="Roboto" panose="02000000000000000000" pitchFamily="2" charset="0"/>
      <p:regular r:id="rId17"/>
      <p:bold r:id="rId18"/>
      <p:boldItalic r:id="rId19"/>
    </p:embeddedFont>
  </p:embeddedFontLst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Раздел по умолчанию" id="{5CA42B75-FCC7-4ED4-8ED1-4D3B1B0434ED}">
          <p14:sldIdLst>
            <p14:sldId id="256"/>
            <p14:sldId id="257"/>
            <p14:sldId id="286"/>
          </p14:sldIdLst>
        </p14:section>
        <p14:section name="Продолжение" id="{4AC4F3C8-C391-4853-B9B3-B2E4EA95B721}">
          <p14:sldIdLst>
            <p14:sldId id="280"/>
            <p14:sldId id="283"/>
            <p14:sldId id="284"/>
            <p14:sldId id="285"/>
            <p14:sldId id="281"/>
            <p14:sldId id="288"/>
            <p14:sldId id="289"/>
            <p14:sldId id="287"/>
            <p14:sldId id="260"/>
            <p14:sldId id="275"/>
          </p14:sldIdLst>
        </p14:section>
      </p14:sectionLst>
    </p:ex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A77B122B-79F7-5756-D65A-822D8E86CB8E}" name="Стас Якушев" initials="СЯ" userId="1acfbfbb27ec4572" providerId="Windows Live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AC2AB"/>
    <a:srgbClr val="FF7047"/>
    <a:srgbClr val="FCBEAF"/>
    <a:srgbClr val="FF9576"/>
    <a:srgbClr val="60DF3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Средний стиль 2 — акцент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2426" autoAdjust="0"/>
    <p:restoredTop sz="94474" autoAdjust="0"/>
  </p:normalViewPr>
  <p:slideViewPr>
    <p:cSldViewPr snapToGrid="0" snapToObjects="1">
      <p:cViewPr varScale="1">
        <p:scale>
          <a:sx n="60" d="100"/>
          <a:sy n="60" d="100"/>
        </p:scale>
        <p:origin x="708" y="48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 snapToGrid="0" snapToObjects="1">
      <p:cViewPr>
        <p:scale>
          <a:sx n="66" d="100"/>
          <a:sy n="66" d="100"/>
        </p:scale>
        <p:origin x="2346" y="-942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font" Target="fonts/font3.fntdata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2.fntdata"/><Relationship Id="rId2" Type="http://schemas.openxmlformats.org/officeDocument/2006/relationships/slide" Target="slides/slide1.xml"/><Relationship Id="rId16" Type="http://schemas.openxmlformats.org/officeDocument/2006/relationships/font" Target="fonts/font1.fntdata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microsoft.com/office/2018/10/relationships/authors" Target="authors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font" Target="fonts/font4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1387806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3A84A5B-8708-8FF8-FA9E-64216810D6F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4B10360-D72B-9B66-0B69-97A93F17510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511D4D6-D931-DF6D-1571-1B2267CB0C3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D486463-C7CC-40B3-2075-6FF076C5B2C8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8413252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3A84A5B-8708-8FF8-FA9E-64216810D6F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4B10360-D72B-9B66-0B69-97A93F17510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511D4D6-D931-DF6D-1571-1B2267CB0C3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D486463-C7CC-40B3-2075-6FF076C5B2C8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79642194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3A84A5B-8708-8FF8-FA9E-64216810D6F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4B10360-D72B-9B66-0B69-97A93F17510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511D4D6-D931-DF6D-1571-1B2267CB0C3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D486463-C7CC-40B3-2075-6FF076C5B2C8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36550540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3A84A5B-8708-8FF8-FA9E-64216810D6F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4B10360-D72B-9B66-0B69-97A93F17510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511D4D6-D931-DF6D-1571-1B2267CB0C3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D486463-C7CC-40B3-2075-6FF076C5B2C8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97531207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3A84A5B-8708-8FF8-FA9E-64216810D6F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4B10360-D72B-9B66-0B69-97A93F17510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511D4D6-D931-DF6D-1571-1B2267CB0C3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D486463-C7CC-40B3-2075-6FF076C5B2C8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02683353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3A84A5B-8708-8FF8-FA9E-64216810D6F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4B10360-D72B-9B66-0B69-97A93F17510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511D4D6-D931-DF6D-1571-1B2267CB0C3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D486463-C7CC-40B3-2075-6FF076C5B2C8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2918130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DEF013D-086F-11BF-0396-32C6FCB38C6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DFD2F67-EDA1-3C0E-830B-C714C2E67B4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3760661-B7EB-8E9A-DD60-7220E0E7832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8062C86-3DCB-2A15-B3BA-0CB2A416162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51496438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E951C92-F117-9B66-4049-2CE68E5773D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46E04D5-6089-B0B4-A480-3E9D2565C3B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5D9DEFB-11E8-1344-4B43-88E76930333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61F718D-F250-5959-21C1-D76151E44E28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0335508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A8D4F59-624B-3AB1-C9E9-51DBB4DF26C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BEAAE7E-FA90-DC0B-40B9-12850D1A1B0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8DB6D9F-6CE0-2C98-DFC9-B4D65CC843E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DD6C208-0B2A-BF30-4B50-3CDD8931D218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85583345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2DC4C3E-3A94-431C-0055-CAE8196836C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A903C68-BA27-6E21-A6CA-D1385CF9DD2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0314C69-79A3-A3A7-0CAF-17486B0E68D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597FBDC-7818-CB69-26EF-D9C1860831F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3396500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0ED"/>
          </a:solidFill>
          <a:ln/>
        </p:spPr>
        <p:txBody>
          <a:bodyPr/>
          <a:lstStyle/>
          <a:p>
            <a:endParaRPr lang="ru-RU" dirty="0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ru-RU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0ED"/>
          </a:solidFill>
          <a:ln/>
        </p:spPr>
        <p:txBody>
          <a:bodyPr/>
          <a:lstStyle/>
          <a:p>
            <a:endParaRPr lang="ru-RU" dirty="0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ru-RU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3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0ED"/>
          </a:solidFill>
          <a:ln/>
        </p:spPr>
        <p:txBody>
          <a:bodyPr/>
          <a:lstStyle/>
          <a:p>
            <a:endParaRPr lang="ru-RU" dirty="0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ru-RU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4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0ED"/>
          </a:solidFill>
          <a:ln/>
        </p:spPr>
        <p:txBody>
          <a:bodyPr/>
          <a:lstStyle/>
          <a:p>
            <a:endParaRPr lang="ru-RU" dirty="0"/>
          </a:p>
        </p:txBody>
      </p:sp>
      <p:sp>
        <p:nvSpPr>
          <p:cNvPr id="3" name="Shape 1"/>
          <p:cNvSpPr/>
          <p:nvPr userDrawn="1"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ru-RU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5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0ED"/>
          </a:solidFill>
          <a:ln/>
        </p:spPr>
        <p:txBody>
          <a:bodyPr/>
          <a:lstStyle/>
          <a:p>
            <a:endParaRPr lang="ru-RU" dirty="0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ru-RU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6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0ED"/>
          </a:solidFill>
          <a:ln/>
        </p:spPr>
        <p:txBody>
          <a:bodyPr/>
          <a:lstStyle/>
          <a:p>
            <a:endParaRPr lang="ru-RU" dirty="0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ru-RU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7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0ED"/>
          </a:solidFill>
          <a:ln/>
        </p:spPr>
        <p:txBody>
          <a:bodyPr/>
          <a:lstStyle/>
          <a:p>
            <a:endParaRPr lang="ru-RU" dirty="0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ru-RU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8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0ED"/>
          </a:solidFill>
          <a:ln/>
        </p:spPr>
        <p:txBody>
          <a:bodyPr/>
          <a:lstStyle/>
          <a:p>
            <a:endParaRPr lang="ru-RU" dirty="0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ru-RU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9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0ED"/>
          </a:solidFill>
          <a:ln/>
        </p:spPr>
        <p:txBody>
          <a:bodyPr/>
          <a:lstStyle/>
          <a:p>
            <a:endParaRPr lang="ru-RU" dirty="0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ru-RU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0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0ED"/>
          </a:solidFill>
          <a:ln/>
        </p:spPr>
        <p:txBody>
          <a:bodyPr/>
          <a:lstStyle/>
          <a:p>
            <a:endParaRPr lang="ru-RU" dirty="0"/>
          </a:p>
        </p:txBody>
      </p:sp>
      <p:sp>
        <p:nvSpPr>
          <p:cNvPr id="3" name="Shape 1"/>
          <p:cNvSpPr/>
          <p:nvPr userDrawn="1"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ru-RU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5" Type="http://schemas.microsoft.com/office/2007/relationships/hdphoto" Target="../media/hdphoto1.wdp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5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5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5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5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10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12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5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6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Relationship Id="rId5" Type="http://schemas.microsoft.com/office/2007/relationships/hdphoto" Target="../media/hdphoto1.wdp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114484" y="569476"/>
            <a:ext cx="7420570" cy="40025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4850"/>
              </a:lnSpc>
            </a:pPr>
            <a:r>
              <a:rPr lang="ru-RU" sz="3900" dirty="0">
                <a:solidFill>
                  <a:srgbClr val="0C0D0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Сайт для администрирования </a:t>
            </a:r>
            <a:r>
              <a:rPr lang="en-US" sz="3900" dirty="0">
                <a:solidFill>
                  <a:srgbClr val="0C0D0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Telegram</a:t>
            </a:r>
            <a:r>
              <a:rPr lang="ru-RU" sz="3900" dirty="0">
                <a:solidFill>
                  <a:srgbClr val="0C0D0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-бота для записи на стирку</a:t>
            </a:r>
          </a:p>
        </p:txBody>
      </p:sp>
      <p:sp>
        <p:nvSpPr>
          <p:cNvPr id="4" name="Text 1"/>
          <p:cNvSpPr/>
          <p:nvPr/>
        </p:nvSpPr>
        <p:spPr>
          <a:xfrm>
            <a:off x="1114485" y="5290979"/>
            <a:ext cx="7163242" cy="12050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ru-RU" sz="2400" b="1" dirty="0">
                <a:latin typeface="Inter" panose="020B0604020202020204" charset="0"/>
                <a:ea typeface="Inter" panose="020B0604020202020204" charset="0"/>
                <a:cs typeface="Times New Roman" panose="02020603050405020304" pitchFamily="18" charset="0"/>
              </a:rPr>
              <a:t>Авторы работы: Студенты КузГТУ</a:t>
            </a:r>
          </a:p>
          <a:p>
            <a:r>
              <a:rPr lang="ru-RU" sz="2400" dirty="0">
                <a:latin typeface="Inter" panose="020B0604020202020204" charset="0"/>
                <a:ea typeface="Inter" panose="020B0604020202020204" charset="0"/>
                <a:cs typeface="Times New Roman" panose="02020603050405020304" pitchFamily="18" charset="0"/>
              </a:rPr>
              <a:t>Якушев С.А., студент гр. ПИб-242, </a:t>
            </a:r>
            <a:r>
              <a:rPr lang="en-US" sz="2400" dirty="0">
                <a:latin typeface="Inter" panose="020B0604020202020204" charset="0"/>
                <a:ea typeface="Inter" panose="020B0604020202020204" charset="0"/>
                <a:cs typeface="Times New Roman" panose="02020603050405020304" pitchFamily="18" charset="0"/>
              </a:rPr>
              <a:t>II</a:t>
            </a:r>
            <a:r>
              <a:rPr lang="ru-RU" sz="2400" dirty="0">
                <a:latin typeface="Inter" panose="020B0604020202020204" charset="0"/>
                <a:ea typeface="Inter" panose="020B0604020202020204" charset="0"/>
                <a:cs typeface="Times New Roman" panose="02020603050405020304" pitchFamily="18" charset="0"/>
              </a:rPr>
              <a:t> курс</a:t>
            </a:r>
          </a:p>
          <a:p>
            <a:r>
              <a:rPr lang="ru-RU" sz="2400" dirty="0">
                <a:latin typeface="Inter" panose="020B0604020202020204" charset="0"/>
                <a:ea typeface="Inter" panose="020B0604020202020204" charset="0"/>
                <a:cs typeface="Times New Roman" panose="02020603050405020304" pitchFamily="18" charset="0"/>
              </a:rPr>
              <a:t>Сахаров В.В</a:t>
            </a:r>
            <a:r>
              <a:rPr lang="en-US" sz="2400" dirty="0">
                <a:latin typeface="Inter" panose="020B0604020202020204" charset="0"/>
                <a:ea typeface="Inter" panose="020B0604020202020204" charset="0"/>
                <a:cs typeface="Times New Roman" panose="02020603050405020304" pitchFamily="18" charset="0"/>
              </a:rPr>
              <a:t>., </a:t>
            </a:r>
            <a:r>
              <a:rPr lang="ru-RU" sz="2400" dirty="0">
                <a:latin typeface="Inter" panose="020B0604020202020204" charset="0"/>
                <a:ea typeface="Inter" panose="020B0604020202020204" charset="0"/>
                <a:cs typeface="Times New Roman" panose="02020603050405020304" pitchFamily="18" charset="0"/>
              </a:rPr>
              <a:t>студент гр. ПИб-242, </a:t>
            </a:r>
            <a:r>
              <a:rPr lang="en-US" sz="2400" dirty="0">
                <a:latin typeface="Inter" panose="020B0604020202020204" charset="0"/>
                <a:ea typeface="Inter" panose="020B0604020202020204" charset="0"/>
                <a:cs typeface="Times New Roman" panose="02020603050405020304" pitchFamily="18" charset="0"/>
              </a:rPr>
              <a:t>II</a:t>
            </a:r>
            <a:r>
              <a:rPr lang="ru-RU" sz="2400" dirty="0">
                <a:latin typeface="Inter" panose="020B0604020202020204" charset="0"/>
                <a:ea typeface="Inter" panose="020B0604020202020204" charset="0"/>
                <a:cs typeface="Times New Roman" panose="02020603050405020304" pitchFamily="18" charset="0"/>
              </a:rPr>
              <a:t> курс</a:t>
            </a:r>
          </a:p>
          <a:p>
            <a:r>
              <a:rPr lang="ru-RU" sz="2400" dirty="0">
                <a:latin typeface="Inter" panose="020B0604020202020204" charset="0"/>
                <a:ea typeface="Inter" panose="020B0604020202020204" charset="0"/>
                <a:cs typeface="Times New Roman" panose="02020603050405020304" pitchFamily="18" charset="0"/>
              </a:rPr>
              <a:t>Ильин П.Е</a:t>
            </a:r>
            <a:r>
              <a:rPr lang="en-US" sz="2400" dirty="0">
                <a:latin typeface="Inter" panose="020B0604020202020204" charset="0"/>
                <a:ea typeface="Inter" panose="020B0604020202020204" charset="0"/>
                <a:cs typeface="Times New Roman" panose="02020603050405020304" pitchFamily="18" charset="0"/>
              </a:rPr>
              <a:t>., </a:t>
            </a:r>
            <a:r>
              <a:rPr lang="ru-RU" sz="2400" dirty="0">
                <a:latin typeface="Inter" panose="020B0604020202020204" charset="0"/>
                <a:ea typeface="Inter" panose="020B0604020202020204" charset="0"/>
                <a:cs typeface="Times New Roman" panose="02020603050405020304" pitchFamily="18" charset="0"/>
              </a:rPr>
              <a:t>студент гр. ПИб-242, </a:t>
            </a:r>
            <a:r>
              <a:rPr lang="en-US" sz="2400" dirty="0">
                <a:latin typeface="Inter" panose="020B0604020202020204" charset="0"/>
                <a:ea typeface="Inter" panose="020B0604020202020204" charset="0"/>
                <a:cs typeface="Times New Roman" panose="02020603050405020304" pitchFamily="18" charset="0"/>
              </a:rPr>
              <a:t>II</a:t>
            </a:r>
            <a:r>
              <a:rPr lang="ru-RU" sz="2400" dirty="0">
                <a:latin typeface="Inter" panose="020B0604020202020204" charset="0"/>
                <a:ea typeface="Inter" panose="020B0604020202020204" charset="0"/>
                <a:cs typeface="Times New Roman" panose="02020603050405020304" pitchFamily="18" charset="0"/>
              </a:rPr>
              <a:t> курс</a:t>
            </a:r>
          </a:p>
          <a:p>
            <a:endParaRPr lang="ru-RU" sz="2400" dirty="0">
              <a:latin typeface="Inter" panose="020B0604020202020204" charset="0"/>
              <a:ea typeface="Inter" panose="020B0604020202020204" charset="0"/>
              <a:cs typeface="Times New Roman" panose="02020603050405020304" pitchFamily="18" charset="0"/>
            </a:endParaRPr>
          </a:p>
          <a:p>
            <a:r>
              <a:rPr lang="ru-RU" sz="2400" b="1" dirty="0">
                <a:latin typeface="Inter" panose="020B0604020202020204" charset="0"/>
                <a:ea typeface="Inter" panose="020B0604020202020204" charset="0"/>
                <a:cs typeface="Times New Roman" panose="02020603050405020304" pitchFamily="18" charset="0"/>
              </a:rPr>
              <a:t>Ссылка на репозиторий:</a:t>
            </a:r>
            <a:r>
              <a:rPr lang="ru-RU" sz="2400" dirty="0">
                <a:latin typeface="Inter" panose="020B0604020202020204" charset="0"/>
                <a:ea typeface="Inter" panose="020B0604020202020204" charset="0"/>
                <a:cs typeface="Times New Roman" panose="02020603050405020304" pitchFamily="18" charset="0"/>
              </a:rPr>
              <a:t> </a:t>
            </a:r>
            <a:r>
              <a:rPr lang="en-US" sz="2400" dirty="0">
                <a:latin typeface="Inter" panose="020B0604020202020204" charset="0"/>
                <a:ea typeface="Inter" panose="020B0604020202020204" charset="0"/>
                <a:cs typeface="Times New Roman" panose="02020603050405020304" pitchFamily="18" charset="0"/>
              </a:rPr>
              <a:t>https://github.com/Ratarion/stirka_site</a:t>
            </a:r>
            <a:endParaRPr lang="ru-RU" sz="2400" dirty="0">
              <a:latin typeface="Inter" panose="020B0604020202020204" charset="0"/>
              <a:ea typeface="Inter" panose="020B0604020202020204" charset="0"/>
              <a:cs typeface="Times New Roman" panose="02020603050405020304" pitchFamily="18" charset="0"/>
            </a:endParaRPr>
          </a:p>
        </p:txBody>
      </p:sp>
      <p:pic>
        <p:nvPicPr>
          <p:cNvPr id="8" name="Рисунок 7">
            <a:extLst>
              <a:ext uri="{FF2B5EF4-FFF2-40B4-BE49-F238E27FC236}">
                <a16:creationId xmlns:a16="http://schemas.microsoft.com/office/drawing/2014/main" id="{737C85DB-AC5C-5EAD-098D-2BE56428BFBD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ackgroundRemoval t="10000" b="90000" l="10000" r="90000">
                        <a14:foregroundMark x1="40100" y1="37037" x2="40200" y2="47795"/>
                        <a14:foregroundMark x1="40200" y1="47795" x2="55300" y2="65432"/>
                        <a14:foregroundMark x1="55300" y1="65432" x2="57700" y2="41623"/>
                        <a14:foregroundMark x1="57700" y1="41623" x2="48800" y2="34744"/>
                        <a14:foregroundMark x1="48800" y1="34744" x2="47400" y2="35626"/>
                        <a14:foregroundMark x1="46300" y1="32804" x2="47200" y2="43915"/>
                        <a14:foregroundMark x1="47200" y1="43915" x2="42800" y2="36861"/>
                        <a14:foregroundMark x1="42800" y1="36861" x2="37700" y2="39330"/>
                        <a14:foregroundMark x1="44000" y1="35097" x2="51200" y2="40035"/>
                        <a14:foregroundMark x1="51200" y1="40035" x2="47800" y2="37037"/>
                        <a14:foregroundMark x1="46300" y1="41623" x2="47800" y2="39506"/>
                        <a14:foregroundMark x1="40400" y1="38624" x2="45100" y2="46737"/>
                        <a14:foregroundMark x1="45100" y1="46737" x2="50700" y2="43210"/>
                        <a14:foregroundMark x1="50700" y1="43210" x2="51100" y2="40212"/>
                        <a14:foregroundMark x1="39400" y1="40564" x2="44500" y2="46737"/>
                        <a14:foregroundMark x1="44500" y1="46737" x2="54100" y2="51675"/>
                        <a14:foregroundMark x1="54100" y1="51675" x2="52900" y2="46737"/>
                        <a14:foregroundMark x1="48300" y1="44092" x2="47700" y2="44092"/>
                        <a14:foregroundMark x1="42800" y1="40741" x2="51500" y2="42504"/>
                        <a14:foregroundMark x1="51500" y1="42504" x2="42500" y2="36508"/>
                        <a14:foregroundMark x1="42500" y1="36508" x2="46800" y2="41799"/>
                        <a14:foregroundMark x1="46800" y1="41799" x2="50800" y2="40212"/>
                        <a14:foregroundMark x1="51100" y1="40212" x2="49200" y2="45326"/>
                        <a14:foregroundMark x1="49400" y1="44974" x2="50500" y2="46737"/>
                        <a14:foregroundMark x1="49700" y1="45326" x2="49100" y2="49735"/>
                        <a14:foregroundMark x1="50700" y1="46737" x2="50400" y2="52028"/>
                        <a14:foregroundMark x1="51600" y1="43210" x2="51400" y2="47443"/>
                        <a14:foregroundMark x1="51900" y1="45855" x2="49200" y2="48325"/>
                        <a14:foregroundMark x1="47800" y1="46208" x2="47800" y2="46208"/>
                        <a14:foregroundMark x1="47300" y1="40035" x2="49600" y2="48677"/>
                        <a14:foregroundMark x1="49600" y1="48677" x2="52400" y2="44974"/>
                        <a14:foregroundMark x1="51500" y1="40035" x2="50700" y2="43210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719383" y="0"/>
            <a:ext cx="2539252" cy="1439756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9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5748695"/>
            <a:ext cx="14630400" cy="2480905"/>
          </a:xfrm>
          <a:prstGeom prst="rect">
            <a:avLst/>
          </a:prstGeom>
        </p:spPr>
      </p:pic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4630400" cy="2480905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3871424" y="2576678"/>
            <a:ext cx="6887552" cy="620078"/>
          </a:xfrm>
          <a:prstGeom prst="rect">
            <a:avLst/>
          </a:prstGeom>
          <a:noFill/>
          <a:ln/>
        </p:spPr>
        <p:txBody>
          <a:bodyPr wrap="none" lIns="0" tIns="0" rIns="0" bIns="0" rtlCol="0" anchor="t" anchorCtr="0"/>
          <a:lstStyle/>
          <a:p>
            <a:pPr marL="0" indent="0" algn="ctr">
              <a:lnSpc>
                <a:spcPts val="4850"/>
              </a:lnSpc>
              <a:buNone/>
            </a:pPr>
            <a:r>
              <a:rPr lang="en-US" sz="3900" b="1" dirty="0">
                <a:latin typeface="Inter" panose="020B0604020202020204" charset="0"/>
                <a:ea typeface="Inter" panose="020B0604020202020204" charset="0"/>
                <a:cs typeface="Inter" pitchFamily="34" charset="-120"/>
              </a:rPr>
              <a:t>Цель</a:t>
            </a:r>
            <a:endParaRPr lang="en-US" sz="3900" b="1" dirty="0">
              <a:latin typeface="Inter" panose="020B0604020202020204" charset="0"/>
              <a:ea typeface="Inter" panose="020B0604020202020204" charset="0"/>
            </a:endParaRPr>
          </a:p>
        </p:txBody>
      </p:sp>
      <p:sp>
        <p:nvSpPr>
          <p:cNvPr id="19" name="Прямоугольник: скругленные углы 18">
            <a:extLst>
              <a:ext uri="{FF2B5EF4-FFF2-40B4-BE49-F238E27FC236}">
                <a16:creationId xmlns:a16="http://schemas.microsoft.com/office/drawing/2014/main" id="{38A08353-4EE1-267D-2F9B-3531997A012A}"/>
              </a:ext>
            </a:extLst>
          </p:cNvPr>
          <p:cNvSpPr/>
          <p:nvPr/>
        </p:nvSpPr>
        <p:spPr>
          <a:xfrm>
            <a:off x="14230350" y="7928040"/>
            <a:ext cx="400050" cy="301559"/>
          </a:xfrm>
          <a:prstGeom prst="roundRect">
            <a:avLst/>
          </a:prstGeom>
          <a:noFill/>
          <a:ln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400" dirty="0">
                <a:latin typeface="Inter" panose="020B0604020202020204" charset="0"/>
                <a:ea typeface="Inter" panose="020B0604020202020204" charset="0"/>
                <a:cs typeface="Times New Roman" panose="02020603050405020304" pitchFamily="18" charset="0"/>
              </a:rPr>
              <a:t>2</a:t>
            </a:r>
            <a:endParaRPr lang="ru-RU" sz="1400" dirty="0">
              <a:latin typeface="Inter" panose="020B0604020202020204" charset="0"/>
              <a:ea typeface="Inter" panose="020B0604020202020204" charset="0"/>
              <a:cs typeface="Times New Roman" panose="02020603050405020304" pitchFamily="18" charset="0"/>
            </a:endParaRPr>
          </a:p>
        </p:txBody>
      </p:sp>
      <p:grpSp>
        <p:nvGrpSpPr>
          <p:cNvPr id="32" name="Группа 31">
            <a:extLst>
              <a:ext uri="{FF2B5EF4-FFF2-40B4-BE49-F238E27FC236}">
                <a16:creationId xmlns:a16="http://schemas.microsoft.com/office/drawing/2014/main" id="{3BC10FB4-E2A8-D36C-FB8F-5FAD9121FA22}"/>
              </a:ext>
            </a:extLst>
          </p:cNvPr>
          <p:cNvGrpSpPr/>
          <p:nvPr/>
        </p:nvGrpSpPr>
        <p:grpSpPr>
          <a:xfrm>
            <a:off x="521645" y="3375800"/>
            <a:ext cx="13644532" cy="2788041"/>
            <a:chOff x="745701" y="4925263"/>
            <a:chExt cx="6249104" cy="1756303"/>
          </a:xfrm>
        </p:grpSpPr>
        <p:grpSp>
          <p:nvGrpSpPr>
            <p:cNvPr id="33" name="Группа 32">
              <a:extLst>
                <a:ext uri="{FF2B5EF4-FFF2-40B4-BE49-F238E27FC236}">
                  <a16:creationId xmlns:a16="http://schemas.microsoft.com/office/drawing/2014/main" id="{F49FAE1A-A657-82E2-6F6F-14F9584D1718}"/>
                </a:ext>
              </a:extLst>
            </p:cNvPr>
            <p:cNvGrpSpPr/>
            <p:nvPr/>
          </p:nvGrpSpPr>
          <p:grpSpPr>
            <a:xfrm>
              <a:off x="745701" y="4925263"/>
              <a:ext cx="6249104" cy="1189197"/>
              <a:chOff x="745701" y="4925263"/>
              <a:chExt cx="6249104" cy="1189197"/>
            </a:xfrm>
          </p:grpSpPr>
          <p:grpSp>
            <p:nvGrpSpPr>
              <p:cNvPr id="36" name="Группа 35">
                <a:extLst>
                  <a:ext uri="{FF2B5EF4-FFF2-40B4-BE49-F238E27FC236}">
                    <a16:creationId xmlns:a16="http://schemas.microsoft.com/office/drawing/2014/main" id="{F3677761-8BD6-CBFC-2D26-259A3F82888B}"/>
                  </a:ext>
                </a:extLst>
              </p:cNvPr>
              <p:cNvGrpSpPr/>
              <p:nvPr/>
            </p:nvGrpSpPr>
            <p:grpSpPr>
              <a:xfrm>
                <a:off x="745701" y="4925263"/>
                <a:ext cx="6249104" cy="1189197"/>
                <a:chOff x="770930" y="4944189"/>
                <a:chExt cx="7014061" cy="1189197"/>
              </a:xfrm>
            </p:grpSpPr>
            <p:sp>
              <p:nvSpPr>
                <p:cNvPr id="38" name="Shape 2"/>
                <p:cNvSpPr/>
                <p:nvPr/>
              </p:nvSpPr>
              <p:spPr>
                <a:xfrm>
                  <a:off x="793791" y="4944189"/>
                  <a:ext cx="6991200" cy="1189197"/>
                </a:xfrm>
                <a:prstGeom prst="roundRect">
                  <a:avLst>
                    <a:gd name="adj" fmla="val 4223"/>
                  </a:avLst>
                </a:prstGeom>
                <a:solidFill>
                  <a:srgbClr val="FFFFFF"/>
                </a:solidFill>
                <a:ln w="22860">
                  <a:solidFill>
                    <a:srgbClr val="FF7047"/>
                  </a:solidFill>
                  <a:prstDash val="solid"/>
                </a:ln>
              </p:spPr>
              <p:txBody>
                <a:bodyPr/>
                <a:lstStyle/>
                <a:p>
                  <a:endParaRPr lang="ru-RU" dirty="0">
                    <a:latin typeface="Inter" panose="020B0604020202020204" charset="0"/>
                    <a:ea typeface="Inter" panose="020B0604020202020204" charset="0"/>
                  </a:endParaRPr>
                </a:p>
              </p:txBody>
            </p:sp>
            <p:sp>
              <p:nvSpPr>
                <p:cNvPr id="39" name="Shape 3"/>
                <p:cNvSpPr/>
                <p:nvPr/>
              </p:nvSpPr>
              <p:spPr>
                <a:xfrm>
                  <a:off x="770930" y="4944189"/>
                  <a:ext cx="88166" cy="1189197"/>
                </a:xfrm>
                <a:prstGeom prst="roundRect">
                  <a:avLst>
                    <a:gd name="adj" fmla="val 195349"/>
                  </a:avLst>
                </a:prstGeom>
                <a:solidFill>
                  <a:srgbClr val="FF7047"/>
                </a:solidFill>
                <a:ln/>
              </p:spPr>
              <p:txBody>
                <a:bodyPr/>
                <a:lstStyle/>
                <a:p>
                  <a:endParaRPr lang="ru-RU" dirty="0">
                    <a:latin typeface="Inter" panose="020B0604020202020204" charset="0"/>
                    <a:ea typeface="Inter" panose="020B0604020202020204" charset="0"/>
                  </a:endParaRPr>
                </a:p>
              </p:txBody>
            </p:sp>
          </p:grpSp>
          <p:sp>
            <p:nvSpPr>
              <p:cNvPr id="37" name="Text 4"/>
              <p:cNvSpPr/>
              <p:nvPr/>
            </p:nvSpPr>
            <p:spPr>
              <a:xfrm>
                <a:off x="904420" y="5062042"/>
                <a:ext cx="1694201" cy="310158"/>
              </a:xfrm>
              <a:prstGeom prst="rect">
                <a:avLst/>
              </a:prstGeom>
              <a:noFill/>
              <a:ln/>
            </p:spPr>
            <p:txBody>
              <a:bodyPr wrap="none" lIns="0" tIns="0" rIns="0" bIns="0" rtlCol="0" anchor="t"/>
              <a:lstStyle/>
              <a:p>
                <a:pPr marL="0" indent="0" algn="ctr">
                  <a:lnSpc>
                    <a:spcPts val="2400"/>
                  </a:lnSpc>
                  <a:buNone/>
                </a:pPr>
                <a:r>
                  <a:rPr lang="ru-RU" sz="2000" b="1" dirty="0">
                    <a:latin typeface="Inter" panose="020B0604020202020204" charset="0"/>
                    <a:ea typeface="Inter" panose="020B0604020202020204" charset="0"/>
                  </a:rPr>
                  <a:t>Основная цель приложения:</a:t>
                </a:r>
                <a:endParaRPr lang="en-US" sz="2000" b="1" dirty="0">
                  <a:latin typeface="Inter" panose="020B0604020202020204" charset="0"/>
                  <a:ea typeface="Inter" panose="020B0604020202020204" charset="0"/>
                </a:endParaRPr>
              </a:p>
            </p:txBody>
          </p:sp>
        </p:grpSp>
        <p:sp>
          <p:nvSpPr>
            <p:cNvPr id="34" name="Text 5"/>
            <p:cNvSpPr/>
            <p:nvPr/>
          </p:nvSpPr>
          <p:spPr>
            <a:xfrm>
              <a:off x="1083588" y="6114460"/>
              <a:ext cx="5911215" cy="31754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marL="342900" indent="-342900" algn="l">
                <a:lnSpc>
                  <a:spcPts val="2500"/>
                </a:lnSpc>
                <a:buSzPct val="100000"/>
                <a:buChar char="•"/>
              </a:pPr>
              <a:endParaRPr lang="en-US" dirty="0">
                <a:latin typeface="Inter" panose="020B0604020202020204" charset="0"/>
                <a:ea typeface="Inter" panose="020B0604020202020204" charset="0"/>
              </a:endParaRPr>
            </a:p>
          </p:txBody>
        </p:sp>
        <p:sp>
          <p:nvSpPr>
            <p:cNvPr id="35" name="Text 6"/>
            <p:cNvSpPr/>
            <p:nvPr/>
          </p:nvSpPr>
          <p:spPr>
            <a:xfrm>
              <a:off x="905720" y="5449471"/>
              <a:ext cx="5930829" cy="1232095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>
                <a:lnSpc>
                  <a:spcPts val="2500"/>
                </a:lnSpc>
                <a:buSzPct val="100000"/>
              </a:pPr>
              <a:endParaRPr lang="ru-RU" dirty="0">
                <a:latin typeface="Inter" panose="020B0604020202020204" charset="0"/>
                <a:ea typeface="Inter" panose="020B0604020202020204" charset="0"/>
              </a:endParaRPr>
            </a:p>
          </p:txBody>
        </p:sp>
      </p:grpSp>
      <p:sp>
        <p:nvSpPr>
          <p:cNvPr id="4" name="Прямоугольник 3"/>
          <p:cNvSpPr/>
          <p:nvPr/>
        </p:nvSpPr>
        <p:spPr>
          <a:xfrm>
            <a:off x="868197" y="4010753"/>
            <a:ext cx="13088429" cy="101566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ru-RU" sz="2000" dirty="0"/>
              <a:t>создать удобную панель мониторинга в реальном времени, где администраторы и технические специалисты могут централизованно управлять всеми бронированиями, отслеживать состояние стиральных машин, получать мгновенные уведомления о поломках и формировать аналитику.</a:t>
            </a: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39C9F58-D156-7E12-D833-44EE3C3F036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>
            <a:extLst>
              <a:ext uri="{FF2B5EF4-FFF2-40B4-BE49-F238E27FC236}">
                <a16:creationId xmlns:a16="http://schemas.microsoft.com/office/drawing/2014/main" id="{F60C5CF9-D3B1-D66C-0554-C4A59D4B6F00}"/>
              </a:ext>
            </a:extLst>
          </p:cNvPr>
          <p:cNvSpPr/>
          <p:nvPr/>
        </p:nvSpPr>
        <p:spPr>
          <a:xfrm>
            <a:off x="0" y="326972"/>
            <a:ext cx="14630400" cy="50236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3350"/>
              </a:lnSpc>
              <a:buNone/>
            </a:pPr>
            <a:r>
              <a:rPr lang="ru-RU" sz="2700" dirty="0">
                <a:latin typeface="Inter" panose="020B0604020202020204" charset="0"/>
                <a:ea typeface="Inter" panose="020B0604020202020204" charset="0"/>
              </a:rPr>
              <a:t>Структура файлов проекта</a:t>
            </a:r>
            <a:endParaRPr lang="en-US" sz="2700" dirty="0">
              <a:latin typeface="Inter" panose="020B0604020202020204" charset="0"/>
              <a:ea typeface="Inter" panose="020B0604020202020204" charset="0"/>
            </a:endParaRPr>
          </a:p>
        </p:txBody>
      </p:sp>
      <p:sp>
        <p:nvSpPr>
          <p:cNvPr id="90" name="Прямоугольный треугольник 89">
            <a:extLst>
              <a:ext uri="{FF2B5EF4-FFF2-40B4-BE49-F238E27FC236}">
                <a16:creationId xmlns:a16="http://schemas.microsoft.com/office/drawing/2014/main" id="{3FD9698B-660F-0AF8-A3C6-D328F6111351}"/>
              </a:ext>
            </a:extLst>
          </p:cNvPr>
          <p:cNvSpPr/>
          <p:nvPr/>
        </p:nvSpPr>
        <p:spPr>
          <a:xfrm rot="10800000">
            <a:off x="13550400" y="0"/>
            <a:ext cx="1080000" cy="1080000"/>
          </a:xfrm>
          <a:prstGeom prst="rtTriangle">
            <a:avLst/>
          </a:prstGeom>
          <a:solidFill>
            <a:srgbClr val="FF704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91" name="Прямоугольный треугольник 90">
            <a:extLst>
              <a:ext uri="{FF2B5EF4-FFF2-40B4-BE49-F238E27FC236}">
                <a16:creationId xmlns:a16="http://schemas.microsoft.com/office/drawing/2014/main" id="{B2CCDF26-E460-6F82-0EF6-AEFF868576BF}"/>
              </a:ext>
            </a:extLst>
          </p:cNvPr>
          <p:cNvSpPr/>
          <p:nvPr/>
        </p:nvSpPr>
        <p:spPr>
          <a:xfrm rot="5400000">
            <a:off x="0" y="-21371"/>
            <a:ext cx="1080000" cy="1080000"/>
          </a:xfrm>
          <a:prstGeom prst="rtTriangle">
            <a:avLst/>
          </a:prstGeom>
          <a:solidFill>
            <a:srgbClr val="FF704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92" name="Прямоугольный треугольник 91">
            <a:extLst>
              <a:ext uri="{FF2B5EF4-FFF2-40B4-BE49-F238E27FC236}">
                <a16:creationId xmlns:a16="http://schemas.microsoft.com/office/drawing/2014/main" id="{296C1DCF-1FB2-8BF8-6AC2-796BE4203D5F}"/>
              </a:ext>
            </a:extLst>
          </p:cNvPr>
          <p:cNvSpPr/>
          <p:nvPr/>
        </p:nvSpPr>
        <p:spPr>
          <a:xfrm>
            <a:off x="0" y="7149600"/>
            <a:ext cx="1080000" cy="1080000"/>
          </a:xfrm>
          <a:prstGeom prst="rtTriangle">
            <a:avLst/>
          </a:prstGeom>
          <a:solidFill>
            <a:srgbClr val="FF704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93" name="Прямоугольный треугольник 92">
            <a:extLst>
              <a:ext uri="{FF2B5EF4-FFF2-40B4-BE49-F238E27FC236}">
                <a16:creationId xmlns:a16="http://schemas.microsoft.com/office/drawing/2014/main" id="{E55D88B4-C60E-2428-8A23-76ECC130990C}"/>
              </a:ext>
            </a:extLst>
          </p:cNvPr>
          <p:cNvSpPr/>
          <p:nvPr/>
        </p:nvSpPr>
        <p:spPr>
          <a:xfrm rot="16200000">
            <a:off x="13550400" y="7153610"/>
            <a:ext cx="1080000" cy="1080000"/>
          </a:xfrm>
          <a:prstGeom prst="rtTriangle">
            <a:avLst/>
          </a:prstGeom>
          <a:solidFill>
            <a:srgbClr val="FF704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2" name="Прямоугольник: скругленные углы 1">
            <a:extLst>
              <a:ext uri="{FF2B5EF4-FFF2-40B4-BE49-F238E27FC236}">
                <a16:creationId xmlns:a16="http://schemas.microsoft.com/office/drawing/2014/main" id="{49015874-6E59-2B51-839E-0B178478CBD3}"/>
              </a:ext>
            </a:extLst>
          </p:cNvPr>
          <p:cNvSpPr/>
          <p:nvPr/>
        </p:nvSpPr>
        <p:spPr>
          <a:xfrm>
            <a:off x="14230350" y="7928040"/>
            <a:ext cx="400050" cy="301559"/>
          </a:xfrm>
          <a:prstGeom prst="roundRect">
            <a:avLst/>
          </a:prstGeom>
          <a:solidFill>
            <a:srgbClr val="FF704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14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Inter" panose="020B0604020202020204" charset="0"/>
                <a:ea typeface="Inter" panose="020B0604020202020204" charset="0"/>
                <a:cs typeface="Times New Roman" panose="02020603050405020304" pitchFamily="18" charset="0"/>
              </a:rPr>
              <a:t>7</a:t>
            </a:r>
          </a:p>
        </p:txBody>
      </p:sp>
      <p:graphicFrame>
        <p:nvGraphicFramePr>
          <p:cNvPr id="4" name="Таблица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33262298"/>
              </p:ext>
            </p:extLst>
          </p:nvPr>
        </p:nvGraphicFramePr>
        <p:xfrm>
          <a:off x="2407861" y="1021694"/>
          <a:ext cx="9814677" cy="6327658"/>
        </p:xfrm>
        <a:graphic>
          <a:graphicData uri="http://schemas.openxmlformats.org/drawingml/2006/table">
            <a:tbl>
              <a:tblPr/>
              <a:tblGrid>
                <a:gridCol w="496945">
                  <a:extLst>
                    <a:ext uri="{9D8B030D-6E8A-4147-A177-3AD203B41FA5}">
                      <a16:colId xmlns:a16="http://schemas.microsoft.com/office/drawing/2014/main" val="2980403619"/>
                    </a:ext>
                  </a:extLst>
                </a:gridCol>
                <a:gridCol w="2671082">
                  <a:extLst>
                    <a:ext uri="{9D8B030D-6E8A-4147-A177-3AD203B41FA5}">
                      <a16:colId xmlns:a16="http://schemas.microsoft.com/office/drawing/2014/main" val="169570381"/>
                    </a:ext>
                  </a:extLst>
                </a:gridCol>
                <a:gridCol w="6646650">
                  <a:extLst>
                    <a:ext uri="{9D8B030D-6E8A-4147-A177-3AD203B41FA5}">
                      <a16:colId xmlns:a16="http://schemas.microsoft.com/office/drawing/2014/main" val="2618257148"/>
                    </a:ext>
                  </a:extLst>
                </a:gridCol>
              </a:tblGrid>
              <a:tr h="437164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800" b="1">
                          <a:solidFill>
                            <a:srgbClr val="0F1115"/>
                          </a:solidFill>
                          <a:effectLst/>
                          <a:latin typeface="Roboto"/>
                          <a:ea typeface="Nova Mono"/>
                          <a:cs typeface="Nova Mono"/>
                        </a:rPr>
                        <a:t>№</a:t>
                      </a:r>
                      <a:endParaRPr lang="ru-RU" sz="1800">
                        <a:effectLst/>
                        <a:latin typeface="Roboto"/>
                        <a:ea typeface="Arial" panose="020B0604020202020204" pitchFamily="34" charset="0"/>
                      </a:endParaRPr>
                    </a:p>
                  </a:txBody>
                  <a:tcPr marL="28756" marR="28756" marT="28756" marB="28756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800" b="1" dirty="0">
                          <a:solidFill>
                            <a:srgbClr val="0F1115"/>
                          </a:solidFill>
                          <a:effectLst/>
                          <a:latin typeface="Roboto"/>
                          <a:ea typeface="Roboto"/>
                          <a:cs typeface="Roboto"/>
                        </a:rPr>
                        <a:t>Название файла</a:t>
                      </a:r>
                      <a:endParaRPr lang="ru-RU" sz="1800" dirty="0">
                        <a:effectLst/>
                        <a:latin typeface="Roboto"/>
                        <a:ea typeface="Arial" panose="020B0604020202020204" pitchFamily="34" charset="0"/>
                      </a:endParaRPr>
                    </a:p>
                  </a:txBody>
                  <a:tcPr marL="28756" marR="28756" marT="28756" marB="28756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800" b="1" dirty="0">
                          <a:solidFill>
                            <a:srgbClr val="0F1115"/>
                          </a:solidFill>
                          <a:effectLst/>
                          <a:latin typeface="Roboto"/>
                          <a:ea typeface="Roboto"/>
                          <a:cs typeface="Roboto"/>
                        </a:rPr>
                        <a:t>Назначение</a:t>
                      </a:r>
                      <a:endParaRPr lang="ru-RU" sz="1800" dirty="0">
                        <a:effectLst/>
                        <a:latin typeface="Roboto"/>
                        <a:ea typeface="Arial" panose="020B0604020202020204" pitchFamily="34" charset="0"/>
                      </a:endParaRPr>
                    </a:p>
                  </a:txBody>
                  <a:tcPr marL="28756" marR="28756" marT="28756" marB="28756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932899661"/>
                  </a:ext>
                </a:extLst>
              </a:tr>
              <a:tr h="981749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800" dirty="0">
                          <a:solidFill>
                            <a:srgbClr val="0F1115"/>
                          </a:solidFill>
                          <a:effectLst/>
                          <a:latin typeface="Roboto"/>
                          <a:ea typeface="Roboto"/>
                          <a:cs typeface="Roboto"/>
                        </a:rPr>
                        <a:t>1</a:t>
                      </a:r>
                      <a:endParaRPr lang="ru-RU" sz="1800" dirty="0">
                        <a:effectLst/>
                        <a:latin typeface="Roboto"/>
                        <a:ea typeface="Arial" panose="020B0604020202020204" pitchFamily="34" charset="0"/>
                      </a:endParaRPr>
                    </a:p>
                  </a:txBody>
                  <a:tcPr marL="28756" marR="28756" marT="28756" marB="28756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800" kern="1200" dirty="0">
                          <a:solidFill>
                            <a:schemeClr val="tx1"/>
                          </a:solidFill>
                          <a:effectLst/>
                          <a:latin typeface="Roboto" panose="020B0604020202020204" charset="0"/>
                          <a:ea typeface="Roboto" panose="020B0604020202020204" charset="0"/>
                          <a:cs typeface="Roboto" panose="020B0604020202020204" charset="0"/>
                        </a:rPr>
                        <a:t>composer.json composer.lock</a:t>
                      </a:r>
                      <a:endParaRPr lang="ru-RU" sz="1800" dirty="0">
                        <a:effectLst/>
                        <a:latin typeface="Roboto" panose="020B0604020202020204" charset="0"/>
                        <a:ea typeface="Roboto" panose="020B0604020202020204" charset="0"/>
                        <a:cs typeface="Roboto" panose="020B0604020202020204" charset="0"/>
                      </a:endParaRPr>
                    </a:p>
                  </a:txBody>
                  <a:tcPr marL="28756" marR="28756" marT="28756" marB="28756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800" dirty="0">
                          <a:solidFill>
                            <a:srgbClr val="0F1115"/>
                          </a:solidFill>
                          <a:effectLst/>
                          <a:latin typeface="Roboto"/>
                          <a:ea typeface="Roboto"/>
                          <a:cs typeface="Roboto"/>
                        </a:rPr>
                        <a:t>Управление зависимостями.</a:t>
                      </a:r>
                      <a:endParaRPr lang="ru-RU" sz="1800" dirty="0">
                        <a:effectLst/>
                        <a:latin typeface="Roboto"/>
                        <a:ea typeface="Arial" panose="020B0604020202020204" pitchFamily="34" charset="0"/>
                      </a:endParaRPr>
                    </a:p>
                  </a:txBody>
                  <a:tcPr marL="28756" marR="28756" marT="28756" marB="28756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323086769"/>
                  </a:ext>
                </a:extLst>
              </a:tr>
              <a:tr h="981749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800">
                          <a:solidFill>
                            <a:srgbClr val="0F1115"/>
                          </a:solidFill>
                          <a:effectLst/>
                          <a:latin typeface="Roboto"/>
                          <a:ea typeface="Roboto"/>
                          <a:cs typeface="Roboto"/>
                        </a:rPr>
                        <a:t>2</a:t>
                      </a:r>
                      <a:endParaRPr lang="ru-RU" sz="1800">
                        <a:effectLst/>
                        <a:latin typeface="Roboto"/>
                        <a:ea typeface="Arial" panose="020B0604020202020204" pitchFamily="34" charset="0"/>
                      </a:endParaRPr>
                    </a:p>
                  </a:txBody>
                  <a:tcPr marL="28756" marR="28756" marT="28756" marB="28756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800" dirty="0">
                          <a:solidFill>
                            <a:srgbClr val="0F1115"/>
                          </a:solidFill>
                          <a:effectLst/>
                          <a:latin typeface="Roboto"/>
                          <a:ea typeface="Roboto"/>
                          <a:cs typeface="Roboto"/>
                        </a:rPr>
                        <a:t>do_connect.php </a:t>
                      </a:r>
                      <a:endParaRPr lang="ru-RU" sz="1800" dirty="0">
                        <a:effectLst/>
                        <a:latin typeface="Roboto"/>
                        <a:ea typeface="Arial" panose="020B0604020202020204" pitchFamily="34" charset="0"/>
                      </a:endParaRPr>
                    </a:p>
                  </a:txBody>
                  <a:tcPr marL="28756" marR="28756" marT="28756" marB="28756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800" dirty="0">
                          <a:solidFill>
                            <a:srgbClr val="0F1115"/>
                          </a:solidFill>
                          <a:effectLst/>
                          <a:latin typeface="Roboto"/>
                          <a:ea typeface="Roboto"/>
                          <a:cs typeface="Roboto"/>
                        </a:rPr>
                        <a:t>Точка безопасного подключения к базе Supabase.</a:t>
                      </a:r>
                      <a:endParaRPr lang="ru-RU" sz="1800" dirty="0">
                        <a:effectLst/>
                        <a:latin typeface="Roboto"/>
                        <a:ea typeface="Arial" panose="020B0604020202020204" pitchFamily="34" charset="0"/>
                      </a:endParaRPr>
                    </a:p>
                  </a:txBody>
                  <a:tcPr marL="28756" marR="28756" marT="28756" marB="28756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834135994"/>
                  </a:ext>
                </a:extLst>
              </a:tr>
              <a:tr h="981749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800">
                          <a:solidFill>
                            <a:srgbClr val="0F1115"/>
                          </a:solidFill>
                          <a:effectLst/>
                          <a:latin typeface="Roboto"/>
                          <a:ea typeface="Roboto"/>
                          <a:cs typeface="Roboto"/>
                        </a:rPr>
                        <a:t>3</a:t>
                      </a:r>
                      <a:endParaRPr lang="ru-RU" sz="1800">
                        <a:effectLst/>
                        <a:latin typeface="Roboto"/>
                        <a:ea typeface="Arial" panose="020B0604020202020204" pitchFamily="34" charset="0"/>
                      </a:endParaRPr>
                    </a:p>
                  </a:txBody>
                  <a:tcPr marL="28756" marR="28756" marT="28756" marB="28756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800" dirty="0">
                          <a:solidFill>
                            <a:srgbClr val="0F1115"/>
                          </a:solidFill>
                          <a:effectLst/>
                          <a:latin typeface="Roboto"/>
                          <a:ea typeface="Roboto"/>
                          <a:cs typeface="Roboto"/>
                        </a:rPr>
                        <a:t>stats.php </a:t>
                      </a:r>
                      <a:endParaRPr lang="ru-RU" sz="1800" dirty="0">
                        <a:effectLst/>
                        <a:latin typeface="Roboto"/>
                        <a:ea typeface="Arial" panose="020B0604020202020204" pitchFamily="34" charset="0"/>
                      </a:endParaRPr>
                    </a:p>
                  </a:txBody>
                  <a:tcPr marL="28756" marR="28756" marT="28756" marB="28756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800" dirty="0">
                          <a:solidFill>
                            <a:srgbClr val="0F1115"/>
                          </a:solidFill>
                          <a:effectLst/>
                          <a:latin typeface="Roboto"/>
                          <a:ea typeface="Roboto"/>
                          <a:cs typeface="Roboto"/>
                        </a:rPr>
                        <a:t>Вывод статистики и графиков.</a:t>
                      </a:r>
                      <a:endParaRPr lang="ru-RU" sz="1800" dirty="0">
                        <a:effectLst/>
                        <a:latin typeface="Roboto"/>
                        <a:ea typeface="Arial" panose="020B0604020202020204" pitchFamily="34" charset="0"/>
                      </a:endParaRPr>
                    </a:p>
                  </a:txBody>
                  <a:tcPr marL="28756" marR="28756" marT="28756" marB="28756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731049985"/>
                  </a:ext>
                </a:extLst>
              </a:tr>
              <a:tr h="981749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800">
                          <a:solidFill>
                            <a:srgbClr val="0F1115"/>
                          </a:solidFill>
                          <a:effectLst/>
                          <a:latin typeface="Roboto"/>
                          <a:ea typeface="Roboto"/>
                          <a:cs typeface="Roboto"/>
                        </a:rPr>
                        <a:t>4</a:t>
                      </a:r>
                      <a:endParaRPr lang="ru-RU" sz="1800">
                        <a:effectLst/>
                        <a:latin typeface="Roboto"/>
                        <a:ea typeface="Arial" panose="020B0604020202020204" pitchFamily="34" charset="0"/>
                      </a:endParaRPr>
                    </a:p>
                  </a:txBody>
                  <a:tcPr marL="28756" marR="28756" marT="28756" marB="28756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800" dirty="0">
                          <a:solidFill>
                            <a:srgbClr val="0F1115"/>
                          </a:solidFill>
                          <a:effectLst/>
                          <a:latin typeface="Roboto"/>
                          <a:ea typeface="Roboto"/>
                          <a:cs typeface="Roboto"/>
                        </a:rPr>
                        <a:t>machines.php</a:t>
                      </a:r>
                      <a:endParaRPr lang="ru-RU" sz="1800" dirty="0">
                        <a:effectLst/>
                        <a:latin typeface="Roboto"/>
                        <a:ea typeface="Arial" panose="020B0604020202020204" pitchFamily="34" charset="0"/>
                      </a:endParaRPr>
                    </a:p>
                  </a:txBody>
                  <a:tcPr marL="28756" marR="28756" marT="28756" marB="28756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800" dirty="0">
                          <a:solidFill>
                            <a:srgbClr val="0F1115"/>
                          </a:solidFill>
                          <a:effectLst/>
                          <a:latin typeface="Roboto"/>
                          <a:ea typeface="Roboto"/>
                          <a:cs typeface="Roboto"/>
                        </a:rPr>
                        <a:t>Управление</a:t>
                      </a:r>
                      <a:r>
                        <a:rPr lang="ru-RU" sz="1800" baseline="0" dirty="0">
                          <a:solidFill>
                            <a:srgbClr val="0F1115"/>
                          </a:solidFill>
                          <a:effectLst/>
                          <a:latin typeface="Roboto"/>
                          <a:ea typeface="Roboto"/>
                          <a:cs typeface="Roboto"/>
                        </a:rPr>
                        <a:t> техникой.</a:t>
                      </a:r>
                      <a:endParaRPr lang="ru-RU" sz="1800" dirty="0">
                        <a:effectLst/>
                        <a:latin typeface="Roboto"/>
                        <a:ea typeface="Arial" panose="020B0604020202020204" pitchFamily="34" charset="0"/>
                      </a:endParaRPr>
                    </a:p>
                  </a:txBody>
                  <a:tcPr marL="28756" marR="28756" marT="28756" marB="28756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17145890"/>
                  </a:ext>
                </a:extLst>
              </a:tr>
              <a:tr h="981749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800">
                          <a:solidFill>
                            <a:srgbClr val="0F1115"/>
                          </a:solidFill>
                          <a:effectLst/>
                          <a:latin typeface="Roboto"/>
                          <a:ea typeface="Roboto"/>
                          <a:cs typeface="Roboto"/>
                        </a:rPr>
                        <a:t>5</a:t>
                      </a:r>
                      <a:endParaRPr lang="ru-RU" sz="1800">
                        <a:effectLst/>
                        <a:latin typeface="Roboto"/>
                        <a:ea typeface="Arial" panose="020B0604020202020204" pitchFamily="34" charset="0"/>
                      </a:endParaRPr>
                    </a:p>
                  </a:txBody>
                  <a:tcPr marL="28756" marR="28756" marT="28756" marB="28756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800" dirty="0">
                          <a:solidFill>
                            <a:srgbClr val="0F1115"/>
                          </a:solidFill>
                          <a:effectLst/>
                          <a:latin typeface="Roboto"/>
                          <a:ea typeface="Roboto"/>
                          <a:cs typeface="Roboto"/>
                        </a:rPr>
                        <a:t>booking.php</a:t>
                      </a:r>
                      <a:endParaRPr lang="ru-RU" sz="1800" dirty="0">
                        <a:effectLst/>
                        <a:latin typeface="Roboto"/>
                        <a:ea typeface="Arial" panose="020B0604020202020204" pitchFamily="34" charset="0"/>
                      </a:endParaRPr>
                    </a:p>
                  </a:txBody>
                  <a:tcPr marL="28756" marR="28756" marT="28756" marB="28756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800" dirty="0">
                          <a:solidFill>
                            <a:srgbClr val="0F1115"/>
                          </a:solidFill>
                          <a:effectLst/>
                          <a:latin typeface="Roboto"/>
                          <a:ea typeface="Roboto"/>
                          <a:cs typeface="Roboto"/>
                        </a:rPr>
                        <a:t>Содержит таблицу бронирований с фильтрами и отменами.</a:t>
                      </a:r>
                      <a:endParaRPr lang="ru-RU" sz="1800" dirty="0">
                        <a:effectLst/>
                        <a:latin typeface="Roboto"/>
                        <a:ea typeface="Arial" panose="020B0604020202020204" pitchFamily="34" charset="0"/>
                      </a:endParaRPr>
                    </a:p>
                  </a:txBody>
                  <a:tcPr marL="28756" marR="28756" marT="28756" marB="28756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979942030"/>
                  </a:ext>
                </a:extLst>
              </a:tr>
              <a:tr h="981749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800">
                          <a:solidFill>
                            <a:srgbClr val="0F1115"/>
                          </a:solidFill>
                          <a:effectLst/>
                          <a:latin typeface="Roboto"/>
                          <a:ea typeface="Roboto"/>
                          <a:cs typeface="Roboto"/>
                        </a:rPr>
                        <a:t>6.</a:t>
                      </a:r>
                      <a:endParaRPr lang="ru-RU" sz="1800">
                        <a:effectLst/>
                        <a:latin typeface="Roboto"/>
                        <a:ea typeface="Arial" panose="020B0604020202020204" pitchFamily="34" charset="0"/>
                      </a:endParaRPr>
                    </a:p>
                  </a:txBody>
                  <a:tcPr marL="28756" marR="28756" marT="28756" marB="28756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800" dirty="0">
                          <a:solidFill>
                            <a:srgbClr val="0F1115"/>
                          </a:solidFill>
                          <a:effectLst/>
                          <a:latin typeface="Roboto"/>
                          <a:ea typeface="Roboto"/>
                          <a:cs typeface="Roboto"/>
                        </a:rPr>
                        <a:t>notifications.php</a:t>
                      </a:r>
                      <a:endParaRPr lang="ru-RU" sz="1800" dirty="0">
                        <a:effectLst/>
                        <a:latin typeface="Roboto"/>
                        <a:ea typeface="Arial" panose="020B0604020202020204" pitchFamily="34" charset="0"/>
                      </a:endParaRPr>
                    </a:p>
                  </a:txBody>
                  <a:tcPr marL="28756" marR="28756" marT="28756" marB="28756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800" dirty="0">
                          <a:solidFill>
                            <a:srgbClr val="0F1115"/>
                          </a:solidFill>
                          <a:effectLst/>
                          <a:latin typeface="Roboto"/>
                          <a:ea typeface="Roboto"/>
                          <a:cs typeface="Roboto"/>
                        </a:rPr>
                        <a:t>Работает с уведомлениями о поломках. </a:t>
                      </a:r>
                      <a:endParaRPr lang="ru-RU" sz="1800" dirty="0">
                        <a:effectLst/>
                        <a:latin typeface="Roboto"/>
                        <a:ea typeface="Arial" panose="020B0604020202020204" pitchFamily="34" charset="0"/>
                      </a:endParaRPr>
                    </a:p>
                  </a:txBody>
                  <a:tcPr marL="28756" marR="28756" marT="28756" marB="28756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67457612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79113607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39C9F58-D156-7E12-D833-44EE3C3F036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>
            <a:extLst>
              <a:ext uri="{FF2B5EF4-FFF2-40B4-BE49-F238E27FC236}">
                <a16:creationId xmlns:a16="http://schemas.microsoft.com/office/drawing/2014/main" id="{F60C5CF9-D3B1-D66C-0554-C4A59D4B6F00}"/>
              </a:ext>
            </a:extLst>
          </p:cNvPr>
          <p:cNvSpPr/>
          <p:nvPr/>
        </p:nvSpPr>
        <p:spPr>
          <a:xfrm>
            <a:off x="0" y="326972"/>
            <a:ext cx="14630400" cy="50236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3350"/>
              </a:lnSpc>
              <a:buNone/>
            </a:pPr>
            <a:r>
              <a:rPr lang="ru-RU" sz="2700" dirty="0">
                <a:latin typeface="Inter" panose="020B0604020202020204" charset="0"/>
                <a:ea typeface="Inter" panose="020B0604020202020204" charset="0"/>
              </a:rPr>
              <a:t>Веб-страница «Статистика»</a:t>
            </a:r>
            <a:endParaRPr lang="en-US" sz="2700" dirty="0">
              <a:latin typeface="Inter" panose="020B0604020202020204" charset="0"/>
              <a:ea typeface="Inter" panose="020B0604020202020204" charset="0"/>
            </a:endParaRPr>
          </a:p>
        </p:txBody>
      </p:sp>
      <p:sp>
        <p:nvSpPr>
          <p:cNvPr id="90" name="Прямоугольный треугольник 89">
            <a:extLst>
              <a:ext uri="{FF2B5EF4-FFF2-40B4-BE49-F238E27FC236}">
                <a16:creationId xmlns:a16="http://schemas.microsoft.com/office/drawing/2014/main" id="{3FD9698B-660F-0AF8-A3C6-D328F6111351}"/>
              </a:ext>
            </a:extLst>
          </p:cNvPr>
          <p:cNvSpPr/>
          <p:nvPr/>
        </p:nvSpPr>
        <p:spPr>
          <a:xfrm rot="10800000">
            <a:off x="13550400" y="0"/>
            <a:ext cx="1080000" cy="1080000"/>
          </a:xfrm>
          <a:prstGeom prst="rtTriangle">
            <a:avLst/>
          </a:prstGeom>
          <a:solidFill>
            <a:srgbClr val="FF704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91" name="Прямоугольный треугольник 90">
            <a:extLst>
              <a:ext uri="{FF2B5EF4-FFF2-40B4-BE49-F238E27FC236}">
                <a16:creationId xmlns:a16="http://schemas.microsoft.com/office/drawing/2014/main" id="{B2CCDF26-E460-6F82-0EF6-AEFF868576BF}"/>
              </a:ext>
            </a:extLst>
          </p:cNvPr>
          <p:cNvSpPr/>
          <p:nvPr/>
        </p:nvSpPr>
        <p:spPr>
          <a:xfrm rot="5400000">
            <a:off x="0" y="-21371"/>
            <a:ext cx="1080000" cy="1080000"/>
          </a:xfrm>
          <a:prstGeom prst="rtTriangle">
            <a:avLst/>
          </a:prstGeom>
          <a:solidFill>
            <a:srgbClr val="FF704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92" name="Прямоугольный треугольник 91">
            <a:extLst>
              <a:ext uri="{FF2B5EF4-FFF2-40B4-BE49-F238E27FC236}">
                <a16:creationId xmlns:a16="http://schemas.microsoft.com/office/drawing/2014/main" id="{296C1DCF-1FB2-8BF8-6AC2-796BE4203D5F}"/>
              </a:ext>
            </a:extLst>
          </p:cNvPr>
          <p:cNvSpPr/>
          <p:nvPr/>
        </p:nvSpPr>
        <p:spPr>
          <a:xfrm>
            <a:off x="0" y="7149600"/>
            <a:ext cx="1080000" cy="1080000"/>
          </a:xfrm>
          <a:prstGeom prst="rtTriangle">
            <a:avLst/>
          </a:prstGeom>
          <a:solidFill>
            <a:srgbClr val="FF704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93" name="Прямоугольный треугольник 92">
            <a:extLst>
              <a:ext uri="{FF2B5EF4-FFF2-40B4-BE49-F238E27FC236}">
                <a16:creationId xmlns:a16="http://schemas.microsoft.com/office/drawing/2014/main" id="{E55D88B4-C60E-2428-8A23-76ECC130990C}"/>
              </a:ext>
            </a:extLst>
          </p:cNvPr>
          <p:cNvSpPr/>
          <p:nvPr/>
        </p:nvSpPr>
        <p:spPr>
          <a:xfrm rot="16200000">
            <a:off x="13550400" y="7153610"/>
            <a:ext cx="1080000" cy="1080000"/>
          </a:xfrm>
          <a:prstGeom prst="rtTriangle">
            <a:avLst/>
          </a:prstGeom>
          <a:solidFill>
            <a:srgbClr val="FF704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2" name="Прямоугольник: скругленные углы 1">
            <a:extLst>
              <a:ext uri="{FF2B5EF4-FFF2-40B4-BE49-F238E27FC236}">
                <a16:creationId xmlns:a16="http://schemas.microsoft.com/office/drawing/2014/main" id="{49015874-6E59-2B51-839E-0B178478CBD3}"/>
              </a:ext>
            </a:extLst>
          </p:cNvPr>
          <p:cNvSpPr/>
          <p:nvPr/>
        </p:nvSpPr>
        <p:spPr>
          <a:xfrm>
            <a:off x="14230350" y="7928040"/>
            <a:ext cx="400050" cy="301559"/>
          </a:xfrm>
          <a:prstGeom prst="roundRect">
            <a:avLst/>
          </a:prstGeom>
          <a:solidFill>
            <a:srgbClr val="FF704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14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Inter" panose="020B0604020202020204" charset="0"/>
                <a:ea typeface="Inter" panose="020B0604020202020204" charset="0"/>
                <a:cs typeface="Times New Roman" panose="02020603050405020304" pitchFamily="18" charset="0"/>
              </a:rPr>
              <a:t>9</a:t>
            </a:r>
          </a:p>
        </p:txBody>
      </p:sp>
      <p:pic>
        <p:nvPicPr>
          <p:cNvPr id="4" name="Рисунок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9579" y="1058629"/>
            <a:ext cx="13091243" cy="65798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6875889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39C9F58-D156-7E12-D833-44EE3C3F036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>
            <a:extLst>
              <a:ext uri="{FF2B5EF4-FFF2-40B4-BE49-F238E27FC236}">
                <a16:creationId xmlns:a16="http://schemas.microsoft.com/office/drawing/2014/main" id="{F60C5CF9-D3B1-D66C-0554-C4A59D4B6F00}"/>
              </a:ext>
            </a:extLst>
          </p:cNvPr>
          <p:cNvSpPr/>
          <p:nvPr/>
        </p:nvSpPr>
        <p:spPr>
          <a:xfrm>
            <a:off x="0" y="326972"/>
            <a:ext cx="14630400" cy="50236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3350"/>
              </a:lnSpc>
              <a:buNone/>
            </a:pPr>
            <a:r>
              <a:rPr lang="ru-RU" sz="2700" dirty="0">
                <a:latin typeface="Inter" panose="020B0604020202020204" charset="0"/>
                <a:ea typeface="Inter" panose="020B0604020202020204" charset="0"/>
              </a:rPr>
              <a:t>Веб-страница «Техника»</a:t>
            </a:r>
            <a:endParaRPr lang="en-US" sz="2700" dirty="0">
              <a:latin typeface="Inter" panose="020B0604020202020204" charset="0"/>
              <a:ea typeface="Inter" panose="020B0604020202020204" charset="0"/>
            </a:endParaRPr>
          </a:p>
        </p:txBody>
      </p:sp>
      <p:sp>
        <p:nvSpPr>
          <p:cNvPr id="90" name="Прямоугольный треугольник 89">
            <a:extLst>
              <a:ext uri="{FF2B5EF4-FFF2-40B4-BE49-F238E27FC236}">
                <a16:creationId xmlns:a16="http://schemas.microsoft.com/office/drawing/2014/main" id="{3FD9698B-660F-0AF8-A3C6-D328F6111351}"/>
              </a:ext>
            </a:extLst>
          </p:cNvPr>
          <p:cNvSpPr/>
          <p:nvPr/>
        </p:nvSpPr>
        <p:spPr>
          <a:xfrm rot="10800000">
            <a:off x="13550400" y="0"/>
            <a:ext cx="1080000" cy="1080000"/>
          </a:xfrm>
          <a:prstGeom prst="rtTriangle">
            <a:avLst/>
          </a:prstGeom>
          <a:solidFill>
            <a:srgbClr val="FF704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91" name="Прямоугольный треугольник 90">
            <a:extLst>
              <a:ext uri="{FF2B5EF4-FFF2-40B4-BE49-F238E27FC236}">
                <a16:creationId xmlns:a16="http://schemas.microsoft.com/office/drawing/2014/main" id="{B2CCDF26-E460-6F82-0EF6-AEFF868576BF}"/>
              </a:ext>
            </a:extLst>
          </p:cNvPr>
          <p:cNvSpPr/>
          <p:nvPr/>
        </p:nvSpPr>
        <p:spPr>
          <a:xfrm rot="5400000">
            <a:off x="0" y="-21371"/>
            <a:ext cx="1080000" cy="1080000"/>
          </a:xfrm>
          <a:prstGeom prst="rtTriangle">
            <a:avLst/>
          </a:prstGeom>
          <a:solidFill>
            <a:srgbClr val="FF704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92" name="Прямоугольный треугольник 91">
            <a:extLst>
              <a:ext uri="{FF2B5EF4-FFF2-40B4-BE49-F238E27FC236}">
                <a16:creationId xmlns:a16="http://schemas.microsoft.com/office/drawing/2014/main" id="{296C1DCF-1FB2-8BF8-6AC2-796BE4203D5F}"/>
              </a:ext>
            </a:extLst>
          </p:cNvPr>
          <p:cNvSpPr/>
          <p:nvPr/>
        </p:nvSpPr>
        <p:spPr>
          <a:xfrm>
            <a:off x="0" y="7149600"/>
            <a:ext cx="1080000" cy="1080000"/>
          </a:xfrm>
          <a:prstGeom prst="rtTriangle">
            <a:avLst/>
          </a:prstGeom>
          <a:solidFill>
            <a:srgbClr val="FF704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93" name="Прямоугольный треугольник 92">
            <a:extLst>
              <a:ext uri="{FF2B5EF4-FFF2-40B4-BE49-F238E27FC236}">
                <a16:creationId xmlns:a16="http://schemas.microsoft.com/office/drawing/2014/main" id="{E55D88B4-C60E-2428-8A23-76ECC130990C}"/>
              </a:ext>
            </a:extLst>
          </p:cNvPr>
          <p:cNvSpPr/>
          <p:nvPr/>
        </p:nvSpPr>
        <p:spPr>
          <a:xfrm rot="16200000">
            <a:off x="13550400" y="7153610"/>
            <a:ext cx="1080000" cy="1080000"/>
          </a:xfrm>
          <a:prstGeom prst="rtTriangle">
            <a:avLst/>
          </a:prstGeom>
          <a:solidFill>
            <a:srgbClr val="FF704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2" name="Прямоугольник: скругленные углы 1">
            <a:extLst>
              <a:ext uri="{FF2B5EF4-FFF2-40B4-BE49-F238E27FC236}">
                <a16:creationId xmlns:a16="http://schemas.microsoft.com/office/drawing/2014/main" id="{49015874-6E59-2B51-839E-0B178478CBD3}"/>
              </a:ext>
            </a:extLst>
          </p:cNvPr>
          <p:cNvSpPr/>
          <p:nvPr/>
        </p:nvSpPr>
        <p:spPr>
          <a:xfrm>
            <a:off x="14230350" y="7928040"/>
            <a:ext cx="400050" cy="301559"/>
          </a:xfrm>
          <a:prstGeom prst="roundRect">
            <a:avLst/>
          </a:prstGeom>
          <a:solidFill>
            <a:srgbClr val="FF704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14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Inter" panose="020B0604020202020204" charset="0"/>
                <a:ea typeface="Inter" panose="020B0604020202020204" charset="0"/>
                <a:cs typeface="Times New Roman" panose="02020603050405020304" pitchFamily="18" charset="0"/>
              </a:rPr>
              <a:t>9</a:t>
            </a:r>
          </a:p>
        </p:txBody>
      </p:sp>
      <p:pic>
        <p:nvPicPr>
          <p:cNvPr id="5" name="Рисунок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4695" y="1058629"/>
            <a:ext cx="13021011" cy="65037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2672984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39C9F58-D156-7E12-D833-44EE3C3F036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>
            <a:extLst>
              <a:ext uri="{FF2B5EF4-FFF2-40B4-BE49-F238E27FC236}">
                <a16:creationId xmlns:a16="http://schemas.microsoft.com/office/drawing/2014/main" id="{F60C5CF9-D3B1-D66C-0554-C4A59D4B6F00}"/>
              </a:ext>
            </a:extLst>
          </p:cNvPr>
          <p:cNvSpPr/>
          <p:nvPr/>
        </p:nvSpPr>
        <p:spPr>
          <a:xfrm>
            <a:off x="0" y="326972"/>
            <a:ext cx="14630400" cy="50236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3350"/>
              </a:lnSpc>
              <a:buNone/>
            </a:pPr>
            <a:r>
              <a:rPr lang="ru-RU" sz="2700" dirty="0">
                <a:latin typeface="Inter" panose="020B0604020202020204" charset="0"/>
                <a:ea typeface="Inter" panose="020B0604020202020204" charset="0"/>
              </a:rPr>
              <a:t>Веб-страница «Бронирование»</a:t>
            </a:r>
            <a:endParaRPr lang="en-US" sz="2700" dirty="0">
              <a:latin typeface="Inter" panose="020B0604020202020204" charset="0"/>
              <a:ea typeface="Inter" panose="020B0604020202020204" charset="0"/>
            </a:endParaRPr>
          </a:p>
        </p:txBody>
      </p:sp>
      <p:sp>
        <p:nvSpPr>
          <p:cNvPr id="90" name="Прямоугольный треугольник 89">
            <a:extLst>
              <a:ext uri="{FF2B5EF4-FFF2-40B4-BE49-F238E27FC236}">
                <a16:creationId xmlns:a16="http://schemas.microsoft.com/office/drawing/2014/main" id="{3FD9698B-660F-0AF8-A3C6-D328F6111351}"/>
              </a:ext>
            </a:extLst>
          </p:cNvPr>
          <p:cNvSpPr/>
          <p:nvPr/>
        </p:nvSpPr>
        <p:spPr>
          <a:xfrm rot="10800000">
            <a:off x="13550400" y="0"/>
            <a:ext cx="1080000" cy="1080000"/>
          </a:xfrm>
          <a:prstGeom prst="rtTriangle">
            <a:avLst/>
          </a:prstGeom>
          <a:solidFill>
            <a:srgbClr val="FF704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91" name="Прямоугольный треугольник 90">
            <a:extLst>
              <a:ext uri="{FF2B5EF4-FFF2-40B4-BE49-F238E27FC236}">
                <a16:creationId xmlns:a16="http://schemas.microsoft.com/office/drawing/2014/main" id="{B2CCDF26-E460-6F82-0EF6-AEFF868576BF}"/>
              </a:ext>
            </a:extLst>
          </p:cNvPr>
          <p:cNvSpPr/>
          <p:nvPr/>
        </p:nvSpPr>
        <p:spPr>
          <a:xfrm rot="5400000">
            <a:off x="0" y="-21371"/>
            <a:ext cx="1080000" cy="1080000"/>
          </a:xfrm>
          <a:prstGeom prst="rtTriangle">
            <a:avLst/>
          </a:prstGeom>
          <a:solidFill>
            <a:srgbClr val="FF704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92" name="Прямоугольный треугольник 91">
            <a:extLst>
              <a:ext uri="{FF2B5EF4-FFF2-40B4-BE49-F238E27FC236}">
                <a16:creationId xmlns:a16="http://schemas.microsoft.com/office/drawing/2014/main" id="{296C1DCF-1FB2-8BF8-6AC2-796BE4203D5F}"/>
              </a:ext>
            </a:extLst>
          </p:cNvPr>
          <p:cNvSpPr/>
          <p:nvPr/>
        </p:nvSpPr>
        <p:spPr>
          <a:xfrm>
            <a:off x="0" y="7149600"/>
            <a:ext cx="1080000" cy="1080000"/>
          </a:xfrm>
          <a:prstGeom prst="rtTriangle">
            <a:avLst/>
          </a:prstGeom>
          <a:solidFill>
            <a:srgbClr val="FF704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93" name="Прямоугольный треугольник 92">
            <a:extLst>
              <a:ext uri="{FF2B5EF4-FFF2-40B4-BE49-F238E27FC236}">
                <a16:creationId xmlns:a16="http://schemas.microsoft.com/office/drawing/2014/main" id="{E55D88B4-C60E-2428-8A23-76ECC130990C}"/>
              </a:ext>
            </a:extLst>
          </p:cNvPr>
          <p:cNvSpPr/>
          <p:nvPr/>
        </p:nvSpPr>
        <p:spPr>
          <a:xfrm rot="16200000">
            <a:off x="13550400" y="7153610"/>
            <a:ext cx="1080000" cy="1080000"/>
          </a:xfrm>
          <a:prstGeom prst="rtTriangle">
            <a:avLst/>
          </a:prstGeom>
          <a:solidFill>
            <a:srgbClr val="FF704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2" name="Прямоугольник: скругленные углы 1">
            <a:extLst>
              <a:ext uri="{FF2B5EF4-FFF2-40B4-BE49-F238E27FC236}">
                <a16:creationId xmlns:a16="http://schemas.microsoft.com/office/drawing/2014/main" id="{49015874-6E59-2B51-839E-0B178478CBD3}"/>
              </a:ext>
            </a:extLst>
          </p:cNvPr>
          <p:cNvSpPr/>
          <p:nvPr/>
        </p:nvSpPr>
        <p:spPr>
          <a:xfrm>
            <a:off x="14230350" y="7928040"/>
            <a:ext cx="400050" cy="301559"/>
          </a:xfrm>
          <a:prstGeom prst="roundRect">
            <a:avLst/>
          </a:prstGeom>
          <a:solidFill>
            <a:srgbClr val="FF704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14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Inter" panose="020B0604020202020204" charset="0"/>
                <a:ea typeface="Inter" panose="020B0604020202020204" charset="0"/>
                <a:cs typeface="Times New Roman" panose="02020603050405020304" pitchFamily="18" charset="0"/>
              </a:rPr>
              <a:t>9</a:t>
            </a:r>
          </a:p>
        </p:txBody>
      </p:sp>
      <p:pic>
        <p:nvPicPr>
          <p:cNvPr id="5" name="Рисунок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77210" y="1080000"/>
            <a:ext cx="12875980" cy="64312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5494602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39C9F58-D156-7E12-D833-44EE3C3F036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>
            <a:extLst>
              <a:ext uri="{FF2B5EF4-FFF2-40B4-BE49-F238E27FC236}">
                <a16:creationId xmlns:a16="http://schemas.microsoft.com/office/drawing/2014/main" id="{F60C5CF9-D3B1-D66C-0554-C4A59D4B6F00}"/>
              </a:ext>
            </a:extLst>
          </p:cNvPr>
          <p:cNvSpPr/>
          <p:nvPr/>
        </p:nvSpPr>
        <p:spPr>
          <a:xfrm>
            <a:off x="0" y="326972"/>
            <a:ext cx="14630400" cy="50236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3350"/>
              </a:lnSpc>
              <a:buNone/>
            </a:pPr>
            <a:r>
              <a:rPr lang="ru-RU" sz="2700" dirty="0">
                <a:latin typeface="Inter" panose="020B0604020202020204" charset="0"/>
                <a:ea typeface="Inter" panose="020B0604020202020204" charset="0"/>
              </a:rPr>
              <a:t>Веб-страница «Уведомления»</a:t>
            </a:r>
            <a:endParaRPr lang="en-US" sz="2700" dirty="0">
              <a:latin typeface="Inter" panose="020B0604020202020204" charset="0"/>
              <a:ea typeface="Inter" panose="020B0604020202020204" charset="0"/>
            </a:endParaRPr>
          </a:p>
        </p:txBody>
      </p:sp>
      <p:sp>
        <p:nvSpPr>
          <p:cNvPr id="90" name="Прямоугольный треугольник 89">
            <a:extLst>
              <a:ext uri="{FF2B5EF4-FFF2-40B4-BE49-F238E27FC236}">
                <a16:creationId xmlns:a16="http://schemas.microsoft.com/office/drawing/2014/main" id="{3FD9698B-660F-0AF8-A3C6-D328F6111351}"/>
              </a:ext>
            </a:extLst>
          </p:cNvPr>
          <p:cNvSpPr/>
          <p:nvPr/>
        </p:nvSpPr>
        <p:spPr>
          <a:xfrm rot="10800000">
            <a:off x="13550400" y="0"/>
            <a:ext cx="1080000" cy="1080000"/>
          </a:xfrm>
          <a:prstGeom prst="rtTriangle">
            <a:avLst/>
          </a:prstGeom>
          <a:solidFill>
            <a:srgbClr val="FF704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91" name="Прямоугольный треугольник 90">
            <a:extLst>
              <a:ext uri="{FF2B5EF4-FFF2-40B4-BE49-F238E27FC236}">
                <a16:creationId xmlns:a16="http://schemas.microsoft.com/office/drawing/2014/main" id="{B2CCDF26-E460-6F82-0EF6-AEFF868576BF}"/>
              </a:ext>
            </a:extLst>
          </p:cNvPr>
          <p:cNvSpPr/>
          <p:nvPr/>
        </p:nvSpPr>
        <p:spPr>
          <a:xfrm rot="5400000">
            <a:off x="0" y="-21371"/>
            <a:ext cx="1080000" cy="1080000"/>
          </a:xfrm>
          <a:prstGeom prst="rtTriangle">
            <a:avLst/>
          </a:prstGeom>
          <a:solidFill>
            <a:srgbClr val="FF704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92" name="Прямоугольный треугольник 91">
            <a:extLst>
              <a:ext uri="{FF2B5EF4-FFF2-40B4-BE49-F238E27FC236}">
                <a16:creationId xmlns:a16="http://schemas.microsoft.com/office/drawing/2014/main" id="{296C1DCF-1FB2-8BF8-6AC2-796BE4203D5F}"/>
              </a:ext>
            </a:extLst>
          </p:cNvPr>
          <p:cNvSpPr/>
          <p:nvPr/>
        </p:nvSpPr>
        <p:spPr>
          <a:xfrm>
            <a:off x="0" y="7149600"/>
            <a:ext cx="1080000" cy="1080000"/>
          </a:xfrm>
          <a:prstGeom prst="rtTriangle">
            <a:avLst/>
          </a:prstGeom>
          <a:solidFill>
            <a:srgbClr val="FF704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93" name="Прямоугольный треугольник 92">
            <a:extLst>
              <a:ext uri="{FF2B5EF4-FFF2-40B4-BE49-F238E27FC236}">
                <a16:creationId xmlns:a16="http://schemas.microsoft.com/office/drawing/2014/main" id="{E55D88B4-C60E-2428-8A23-76ECC130990C}"/>
              </a:ext>
            </a:extLst>
          </p:cNvPr>
          <p:cNvSpPr/>
          <p:nvPr/>
        </p:nvSpPr>
        <p:spPr>
          <a:xfrm rot="16200000">
            <a:off x="13550400" y="7153610"/>
            <a:ext cx="1080000" cy="1080000"/>
          </a:xfrm>
          <a:prstGeom prst="rtTriangle">
            <a:avLst/>
          </a:prstGeom>
          <a:solidFill>
            <a:srgbClr val="FF704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2" name="Прямоугольник: скругленные углы 1">
            <a:extLst>
              <a:ext uri="{FF2B5EF4-FFF2-40B4-BE49-F238E27FC236}">
                <a16:creationId xmlns:a16="http://schemas.microsoft.com/office/drawing/2014/main" id="{49015874-6E59-2B51-839E-0B178478CBD3}"/>
              </a:ext>
            </a:extLst>
          </p:cNvPr>
          <p:cNvSpPr/>
          <p:nvPr/>
        </p:nvSpPr>
        <p:spPr>
          <a:xfrm>
            <a:off x="14230350" y="7928040"/>
            <a:ext cx="400050" cy="301559"/>
          </a:xfrm>
          <a:prstGeom prst="roundRect">
            <a:avLst/>
          </a:prstGeom>
          <a:solidFill>
            <a:srgbClr val="FF704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14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Inter" panose="020B0604020202020204" charset="0"/>
                <a:ea typeface="Inter" panose="020B0604020202020204" charset="0"/>
                <a:cs typeface="Times New Roman" panose="02020603050405020304" pitchFamily="18" charset="0"/>
              </a:rPr>
              <a:t>9</a:t>
            </a:r>
          </a:p>
        </p:txBody>
      </p:sp>
      <p:pic>
        <p:nvPicPr>
          <p:cNvPr id="5" name="Рисунок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1800" y="1080000"/>
            <a:ext cx="12926801" cy="64904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8473586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39C9F58-D156-7E12-D833-44EE3C3F036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>
            <a:extLst>
              <a:ext uri="{FF2B5EF4-FFF2-40B4-BE49-F238E27FC236}">
                <a16:creationId xmlns:a16="http://schemas.microsoft.com/office/drawing/2014/main" id="{F60C5CF9-D3B1-D66C-0554-C4A59D4B6F00}"/>
              </a:ext>
            </a:extLst>
          </p:cNvPr>
          <p:cNvSpPr/>
          <p:nvPr/>
        </p:nvSpPr>
        <p:spPr>
          <a:xfrm>
            <a:off x="0" y="326972"/>
            <a:ext cx="14630400" cy="50236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3350"/>
              </a:lnSpc>
              <a:buNone/>
            </a:pPr>
            <a:r>
              <a:rPr lang="ru-RU" sz="2700" dirty="0">
                <a:latin typeface="Inter" panose="020B0604020202020204" charset="0"/>
                <a:ea typeface="Inter" panose="020B0604020202020204" charset="0"/>
              </a:rPr>
              <a:t>Репозиторий проекта</a:t>
            </a:r>
            <a:endParaRPr lang="en-US" sz="2700" dirty="0">
              <a:latin typeface="Inter" panose="020B0604020202020204" charset="0"/>
              <a:ea typeface="Inter" panose="020B0604020202020204" charset="0"/>
            </a:endParaRPr>
          </a:p>
        </p:txBody>
      </p:sp>
      <p:sp>
        <p:nvSpPr>
          <p:cNvPr id="90" name="Прямоугольный треугольник 89">
            <a:extLst>
              <a:ext uri="{FF2B5EF4-FFF2-40B4-BE49-F238E27FC236}">
                <a16:creationId xmlns:a16="http://schemas.microsoft.com/office/drawing/2014/main" id="{3FD9698B-660F-0AF8-A3C6-D328F6111351}"/>
              </a:ext>
            </a:extLst>
          </p:cNvPr>
          <p:cNvSpPr/>
          <p:nvPr/>
        </p:nvSpPr>
        <p:spPr>
          <a:xfrm rot="10800000">
            <a:off x="13550400" y="0"/>
            <a:ext cx="1080000" cy="1080000"/>
          </a:xfrm>
          <a:prstGeom prst="rtTriangle">
            <a:avLst/>
          </a:prstGeom>
          <a:solidFill>
            <a:srgbClr val="FF704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91" name="Прямоугольный треугольник 90">
            <a:extLst>
              <a:ext uri="{FF2B5EF4-FFF2-40B4-BE49-F238E27FC236}">
                <a16:creationId xmlns:a16="http://schemas.microsoft.com/office/drawing/2014/main" id="{B2CCDF26-E460-6F82-0EF6-AEFF868576BF}"/>
              </a:ext>
            </a:extLst>
          </p:cNvPr>
          <p:cNvSpPr/>
          <p:nvPr/>
        </p:nvSpPr>
        <p:spPr>
          <a:xfrm rot="5400000">
            <a:off x="0" y="-21371"/>
            <a:ext cx="1080000" cy="1080000"/>
          </a:xfrm>
          <a:prstGeom prst="rtTriangle">
            <a:avLst/>
          </a:prstGeom>
          <a:solidFill>
            <a:srgbClr val="FF704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92" name="Прямоугольный треугольник 91">
            <a:extLst>
              <a:ext uri="{FF2B5EF4-FFF2-40B4-BE49-F238E27FC236}">
                <a16:creationId xmlns:a16="http://schemas.microsoft.com/office/drawing/2014/main" id="{296C1DCF-1FB2-8BF8-6AC2-796BE4203D5F}"/>
              </a:ext>
            </a:extLst>
          </p:cNvPr>
          <p:cNvSpPr/>
          <p:nvPr/>
        </p:nvSpPr>
        <p:spPr>
          <a:xfrm>
            <a:off x="0" y="7149600"/>
            <a:ext cx="1080000" cy="1080000"/>
          </a:xfrm>
          <a:prstGeom prst="rtTriangle">
            <a:avLst/>
          </a:prstGeom>
          <a:solidFill>
            <a:srgbClr val="FF704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93" name="Прямоугольный треугольник 92">
            <a:extLst>
              <a:ext uri="{FF2B5EF4-FFF2-40B4-BE49-F238E27FC236}">
                <a16:creationId xmlns:a16="http://schemas.microsoft.com/office/drawing/2014/main" id="{E55D88B4-C60E-2428-8A23-76ECC130990C}"/>
              </a:ext>
            </a:extLst>
          </p:cNvPr>
          <p:cNvSpPr/>
          <p:nvPr/>
        </p:nvSpPr>
        <p:spPr>
          <a:xfrm rot="16200000">
            <a:off x="13550400" y="7153610"/>
            <a:ext cx="1080000" cy="1080000"/>
          </a:xfrm>
          <a:prstGeom prst="rtTriangle">
            <a:avLst/>
          </a:prstGeom>
          <a:solidFill>
            <a:srgbClr val="FF704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2" name="Прямоугольник: скругленные углы 1">
            <a:extLst>
              <a:ext uri="{FF2B5EF4-FFF2-40B4-BE49-F238E27FC236}">
                <a16:creationId xmlns:a16="http://schemas.microsoft.com/office/drawing/2014/main" id="{49015874-6E59-2B51-839E-0B178478CBD3}"/>
              </a:ext>
            </a:extLst>
          </p:cNvPr>
          <p:cNvSpPr/>
          <p:nvPr/>
        </p:nvSpPr>
        <p:spPr>
          <a:xfrm>
            <a:off x="14230350" y="7928040"/>
            <a:ext cx="400050" cy="301559"/>
          </a:xfrm>
          <a:prstGeom prst="roundRect">
            <a:avLst/>
          </a:prstGeom>
          <a:solidFill>
            <a:srgbClr val="FF704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Inter" panose="020B0604020202020204" charset="0"/>
                <a:ea typeface="Inter" panose="020B0604020202020204" charset="0"/>
                <a:cs typeface="Times New Roman" panose="02020603050405020304" pitchFamily="18" charset="0"/>
              </a:rPr>
              <a:t>8</a:t>
            </a:r>
            <a:endParaRPr lang="ru-RU" sz="140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Inter" panose="020B0604020202020204" charset="0"/>
              <a:ea typeface="Inter" panose="020B0604020202020204" charset="0"/>
              <a:cs typeface="Times New Roman" panose="02020603050405020304" pitchFamily="18" charset="0"/>
            </a:endParaRPr>
          </a:p>
        </p:txBody>
      </p:sp>
      <p:pic>
        <p:nvPicPr>
          <p:cNvPr id="4" name="Рисунок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4720" y="1237485"/>
            <a:ext cx="13460961" cy="64521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7866850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4CF8BD5-D6BB-8E4F-EB84-E918B45DB72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>
            <a:extLst>
              <a:ext uri="{FF2B5EF4-FFF2-40B4-BE49-F238E27FC236}">
                <a16:creationId xmlns:a16="http://schemas.microsoft.com/office/drawing/2014/main" id="{9F86621A-5DDF-D00E-ECDA-367A186AD0EB}"/>
              </a:ext>
            </a:extLst>
          </p:cNvPr>
          <p:cNvSpPr/>
          <p:nvPr/>
        </p:nvSpPr>
        <p:spPr>
          <a:xfrm>
            <a:off x="0" y="326972"/>
            <a:ext cx="14630400" cy="50236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3350"/>
              </a:lnSpc>
              <a:buNone/>
            </a:pPr>
            <a:r>
              <a:rPr lang="ru-RU" sz="2700" dirty="0">
                <a:latin typeface="Inter" panose="020B0604020202020204" charset="0"/>
                <a:ea typeface="Inter" panose="020B0604020202020204" charset="0"/>
              </a:rPr>
              <a:t>СУБД с данными</a:t>
            </a:r>
            <a:endParaRPr lang="en-US" sz="2700" dirty="0">
              <a:latin typeface="Inter" panose="020B0604020202020204" charset="0"/>
              <a:ea typeface="Inter" panose="020B0604020202020204" charset="0"/>
            </a:endParaRPr>
          </a:p>
        </p:txBody>
      </p:sp>
      <p:sp>
        <p:nvSpPr>
          <p:cNvPr id="90" name="Прямоугольный треугольник 89">
            <a:extLst>
              <a:ext uri="{FF2B5EF4-FFF2-40B4-BE49-F238E27FC236}">
                <a16:creationId xmlns:a16="http://schemas.microsoft.com/office/drawing/2014/main" id="{3055F55E-9CF7-8BDC-B06E-518F650EB32E}"/>
              </a:ext>
            </a:extLst>
          </p:cNvPr>
          <p:cNvSpPr/>
          <p:nvPr/>
        </p:nvSpPr>
        <p:spPr>
          <a:xfrm rot="10800000">
            <a:off x="13550400" y="0"/>
            <a:ext cx="1080000" cy="1080000"/>
          </a:xfrm>
          <a:prstGeom prst="rtTriangle">
            <a:avLst/>
          </a:prstGeom>
          <a:solidFill>
            <a:srgbClr val="FF704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91" name="Прямоугольный треугольник 90">
            <a:extLst>
              <a:ext uri="{FF2B5EF4-FFF2-40B4-BE49-F238E27FC236}">
                <a16:creationId xmlns:a16="http://schemas.microsoft.com/office/drawing/2014/main" id="{82279BD1-1DB8-5512-99B1-3EA891E44000}"/>
              </a:ext>
            </a:extLst>
          </p:cNvPr>
          <p:cNvSpPr/>
          <p:nvPr/>
        </p:nvSpPr>
        <p:spPr>
          <a:xfrm rot="5400000">
            <a:off x="0" y="-21371"/>
            <a:ext cx="1080000" cy="1080000"/>
          </a:xfrm>
          <a:prstGeom prst="rtTriangle">
            <a:avLst/>
          </a:prstGeom>
          <a:solidFill>
            <a:srgbClr val="FF704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92" name="Прямоугольный треугольник 91">
            <a:extLst>
              <a:ext uri="{FF2B5EF4-FFF2-40B4-BE49-F238E27FC236}">
                <a16:creationId xmlns:a16="http://schemas.microsoft.com/office/drawing/2014/main" id="{E1BF75E0-F94B-81A5-A572-25AF3622C1F4}"/>
              </a:ext>
            </a:extLst>
          </p:cNvPr>
          <p:cNvSpPr/>
          <p:nvPr/>
        </p:nvSpPr>
        <p:spPr>
          <a:xfrm>
            <a:off x="0" y="7149600"/>
            <a:ext cx="1080000" cy="1080000"/>
          </a:xfrm>
          <a:prstGeom prst="rtTriangle">
            <a:avLst/>
          </a:prstGeom>
          <a:solidFill>
            <a:srgbClr val="FF704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93" name="Прямоугольный треугольник 92">
            <a:extLst>
              <a:ext uri="{FF2B5EF4-FFF2-40B4-BE49-F238E27FC236}">
                <a16:creationId xmlns:a16="http://schemas.microsoft.com/office/drawing/2014/main" id="{985F71AE-2C95-7A43-1E4D-9B930238D311}"/>
              </a:ext>
            </a:extLst>
          </p:cNvPr>
          <p:cNvSpPr/>
          <p:nvPr/>
        </p:nvSpPr>
        <p:spPr>
          <a:xfrm rot="16200000">
            <a:off x="13550400" y="7153610"/>
            <a:ext cx="1080000" cy="1080000"/>
          </a:xfrm>
          <a:prstGeom prst="rtTriangle">
            <a:avLst/>
          </a:prstGeom>
          <a:solidFill>
            <a:srgbClr val="FF704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2" name="Прямоугольник: скругленные углы 1">
            <a:extLst>
              <a:ext uri="{FF2B5EF4-FFF2-40B4-BE49-F238E27FC236}">
                <a16:creationId xmlns:a16="http://schemas.microsoft.com/office/drawing/2014/main" id="{33B5ADD0-AE26-D3B2-AB94-538D8F2DBE21}"/>
              </a:ext>
            </a:extLst>
          </p:cNvPr>
          <p:cNvSpPr/>
          <p:nvPr/>
        </p:nvSpPr>
        <p:spPr>
          <a:xfrm>
            <a:off x="14230350" y="7928040"/>
            <a:ext cx="400050" cy="301559"/>
          </a:xfrm>
          <a:prstGeom prst="roundRect">
            <a:avLst/>
          </a:prstGeom>
          <a:solidFill>
            <a:srgbClr val="FF704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Inter" panose="020B0604020202020204" charset="0"/>
                <a:ea typeface="Inter" panose="020B0604020202020204" charset="0"/>
                <a:cs typeface="Times New Roman" panose="02020603050405020304" pitchFamily="18" charset="0"/>
              </a:rPr>
              <a:t>9</a:t>
            </a:r>
            <a:endParaRPr lang="ru-RU" sz="140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Inter" panose="020B0604020202020204" charset="0"/>
              <a:ea typeface="Inter" panose="020B0604020202020204" charset="0"/>
              <a:cs typeface="Times New Roman" panose="02020603050405020304" pitchFamily="18" charset="0"/>
            </a:endParaRPr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6A18427D-3021-F9B2-888A-DBEBFE57466C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b="50000"/>
          <a:stretch>
            <a:fillRect/>
          </a:stretch>
        </p:blipFill>
        <p:spPr>
          <a:xfrm>
            <a:off x="813480" y="1177682"/>
            <a:ext cx="12736920" cy="3387181"/>
          </a:xfrm>
          <a:prstGeom prst="rect">
            <a:avLst/>
          </a:prstGeom>
        </p:spPr>
      </p:pic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B163BE66-A62D-E7CA-3DBA-973A993E666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847151" y="4683916"/>
            <a:ext cx="10936097" cy="33889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4346926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FF57AB3-28E2-EEF4-1E6D-666545E23E0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>
            <a:extLst>
              <a:ext uri="{FF2B5EF4-FFF2-40B4-BE49-F238E27FC236}">
                <a16:creationId xmlns:a16="http://schemas.microsoft.com/office/drawing/2014/main" id="{4615D89C-D28C-4232-36EF-5856622EF269}"/>
              </a:ext>
            </a:extLst>
          </p:cNvPr>
          <p:cNvSpPr/>
          <p:nvPr/>
        </p:nvSpPr>
        <p:spPr>
          <a:xfrm>
            <a:off x="0" y="326972"/>
            <a:ext cx="14630400" cy="50236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3350"/>
              </a:lnSpc>
              <a:buNone/>
            </a:pPr>
            <a:r>
              <a:rPr lang="ru-RU" sz="2700" dirty="0">
                <a:latin typeface="Inter" panose="020B0604020202020204" charset="0"/>
                <a:ea typeface="Inter" panose="020B0604020202020204" charset="0"/>
              </a:rPr>
              <a:t>Защита от </a:t>
            </a:r>
            <a:r>
              <a:rPr lang="en-US" sz="2700" dirty="0">
                <a:latin typeface="Inter" panose="020B0604020202020204" charset="0"/>
                <a:ea typeface="Inter" panose="020B0604020202020204" charset="0"/>
              </a:rPr>
              <a:t>XSS</a:t>
            </a:r>
          </a:p>
        </p:txBody>
      </p:sp>
      <p:sp>
        <p:nvSpPr>
          <p:cNvPr id="90" name="Прямоугольный треугольник 89">
            <a:extLst>
              <a:ext uri="{FF2B5EF4-FFF2-40B4-BE49-F238E27FC236}">
                <a16:creationId xmlns:a16="http://schemas.microsoft.com/office/drawing/2014/main" id="{89574A62-DA9B-8D08-D32F-39F110BDDB54}"/>
              </a:ext>
            </a:extLst>
          </p:cNvPr>
          <p:cNvSpPr/>
          <p:nvPr/>
        </p:nvSpPr>
        <p:spPr>
          <a:xfrm rot="10800000">
            <a:off x="13550400" y="0"/>
            <a:ext cx="1080000" cy="1080000"/>
          </a:xfrm>
          <a:prstGeom prst="rtTriangle">
            <a:avLst/>
          </a:prstGeom>
          <a:solidFill>
            <a:srgbClr val="FF704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91" name="Прямоугольный треугольник 90">
            <a:extLst>
              <a:ext uri="{FF2B5EF4-FFF2-40B4-BE49-F238E27FC236}">
                <a16:creationId xmlns:a16="http://schemas.microsoft.com/office/drawing/2014/main" id="{F8A5003B-FE86-48B9-5E6A-003A27124CB9}"/>
              </a:ext>
            </a:extLst>
          </p:cNvPr>
          <p:cNvSpPr/>
          <p:nvPr/>
        </p:nvSpPr>
        <p:spPr>
          <a:xfrm rot="5400000">
            <a:off x="0" y="-21371"/>
            <a:ext cx="1080000" cy="1080000"/>
          </a:xfrm>
          <a:prstGeom prst="rtTriangle">
            <a:avLst/>
          </a:prstGeom>
          <a:solidFill>
            <a:srgbClr val="FF704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92" name="Прямоугольный треугольник 91">
            <a:extLst>
              <a:ext uri="{FF2B5EF4-FFF2-40B4-BE49-F238E27FC236}">
                <a16:creationId xmlns:a16="http://schemas.microsoft.com/office/drawing/2014/main" id="{183373EE-C99F-A7DF-68FD-F0F7A1AD180D}"/>
              </a:ext>
            </a:extLst>
          </p:cNvPr>
          <p:cNvSpPr/>
          <p:nvPr/>
        </p:nvSpPr>
        <p:spPr>
          <a:xfrm>
            <a:off x="0" y="7149600"/>
            <a:ext cx="1080000" cy="1080000"/>
          </a:xfrm>
          <a:prstGeom prst="rtTriangle">
            <a:avLst/>
          </a:prstGeom>
          <a:solidFill>
            <a:srgbClr val="FF704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93" name="Прямоугольный треугольник 92">
            <a:extLst>
              <a:ext uri="{FF2B5EF4-FFF2-40B4-BE49-F238E27FC236}">
                <a16:creationId xmlns:a16="http://schemas.microsoft.com/office/drawing/2014/main" id="{07975F2E-9FBC-D8CD-7354-F3153F6C8566}"/>
              </a:ext>
            </a:extLst>
          </p:cNvPr>
          <p:cNvSpPr/>
          <p:nvPr/>
        </p:nvSpPr>
        <p:spPr>
          <a:xfrm rot="16200000">
            <a:off x="13550400" y="7153610"/>
            <a:ext cx="1080000" cy="1080000"/>
          </a:xfrm>
          <a:prstGeom prst="rtTriangle">
            <a:avLst/>
          </a:prstGeom>
          <a:solidFill>
            <a:srgbClr val="FF704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2" name="Прямоугольник: скругленные углы 1">
            <a:extLst>
              <a:ext uri="{FF2B5EF4-FFF2-40B4-BE49-F238E27FC236}">
                <a16:creationId xmlns:a16="http://schemas.microsoft.com/office/drawing/2014/main" id="{DA279537-6A75-F0D1-597D-8F183A24C4CD}"/>
              </a:ext>
            </a:extLst>
          </p:cNvPr>
          <p:cNvSpPr/>
          <p:nvPr/>
        </p:nvSpPr>
        <p:spPr>
          <a:xfrm>
            <a:off x="14230350" y="7928040"/>
            <a:ext cx="400050" cy="301559"/>
          </a:xfrm>
          <a:prstGeom prst="roundRect">
            <a:avLst/>
          </a:prstGeom>
          <a:solidFill>
            <a:srgbClr val="FF704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14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Inter" panose="020B0604020202020204" charset="0"/>
                <a:ea typeface="Inter" panose="020B0604020202020204" charset="0"/>
                <a:cs typeface="Times New Roman" panose="02020603050405020304" pitchFamily="18" charset="0"/>
              </a:rPr>
              <a:t>10</a:t>
            </a:r>
          </a:p>
        </p:txBody>
      </p:sp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D0BA1FFC-B327-3F1F-4422-D9FC92A96882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b="17027"/>
          <a:stretch>
            <a:fillRect/>
          </a:stretch>
        </p:blipFill>
        <p:spPr>
          <a:xfrm>
            <a:off x="2588205" y="829339"/>
            <a:ext cx="9603795" cy="3013082"/>
          </a:xfrm>
          <a:prstGeom prst="rect">
            <a:avLst/>
          </a:prstGeom>
        </p:spPr>
      </p:pic>
      <p:pic>
        <p:nvPicPr>
          <p:cNvPr id="9" name="Рисунок 8">
            <a:extLst>
              <a:ext uri="{FF2B5EF4-FFF2-40B4-BE49-F238E27FC236}">
                <a16:creationId xmlns:a16="http://schemas.microsoft.com/office/drawing/2014/main" id="{7469F664-F16E-523B-018B-3F17C099FB35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b="16797"/>
          <a:stretch>
            <a:fillRect/>
          </a:stretch>
        </p:blipFill>
        <p:spPr>
          <a:xfrm>
            <a:off x="2488221" y="3869148"/>
            <a:ext cx="9345329" cy="38204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0677764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3245AA5-EF3A-F811-C279-D5D9D2E9B98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>
            <a:extLst>
              <a:ext uri="{FF2B5EF4-FFF2-40B4-BE49-F238E27FC236}">
                <a16:creationId xmlns:a16="http://schemas.microsoft.com/office/drawing/2014/main" id="{483033DD-B058-CBCD-6105-0C5EE947D8CC}"/>
              </a:ext>
            </a:extLst>
          </p:cNvPr>
          <p:cNvSpPr/>
          <p:nvPr/>
        </p:nvSpPr>
        <p:spPr>
          <a:xfrm>
            <a:off x="0" y="326972"/>
            <a:ext cx="14630400" cy="50236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3350"/>
              </a:lnSpc>
              <a:buNone/>
            </a:pPr>
            <a:r>
              <a:rPr lang="ru-RU" sz="2700" dirty="0">
                <a:latin typeface="Inter" panose="020B0604020202020204" charset="0"/>
                <a:ea typeface="Inter" panose="020B0604020202020204" charset="0"/>
              </a:rPr>
              <a:t>Защита от </a:t>
            </a:r>
            <a:r>
              <a:rPr lang="en-US" sz="2700" dirty="0">
                <a:latin typeface="Inter" panose="020B0604020202020204" charset="0"/>
                <a:ea typeface="Inter" panose="020B0604020202020204" charset="0"/>
              </a:rPr>
              <a:t>SQL </a:t>
            </a:r>
            <a:r>
              <a:rPr lang="ru-RU" sz="2700" dirty="0">
                <a:latin typeface="Inter" panose="020B0604020202020204" charset="0"/>
                <a:ea typeface="Inter" panose="020B0604020202020204" charset="0"/>
              </a:rPr>
              <a:t>инъекций</a:t>
            </a:r>
            <a:endParaRPr lang="en-US" sz="2700" dirty="0">
              <a:latin typeface="Inter" panose="020B0604020202020204" charset="0"/>
              <a:ea typeface="Inter" panose="020B0604020202020204" charset="0"/>
            </a:endParaRPr>
          </a:p>
        </p:txBody>
      </p:sp>
      <p:sp>
        <p:nvSpPr>
          <p:cNvPr id="90" name="Прямоугольный треугольник 89">
            <a:extLst>
              <a:ext uri="{FF2B5EF4-FFF2-40B4-BE49-F238E27FC236}">
                <a16:creationId xmlns:a16="http://schemas.microsoft.com/office/drawing/2014/main" id="{82F546A8-8A73-83DE-7B06-4C35F23D4904}"/>
              </a:ext>
            </a:extLst>
          </p:cNvPr>
          <p:cNvSpPr/>
          <p:nvPr/>
        </p:nvSpPr>
        <p:spPr>
          <a:xfrm rot="10800000">
            <a:off x="13550400" y="0"/>
            <a:ext cx="1080000" cy="1080000"/>
          </a:xfrm>
          <a:prstGeom prst="rtTriangle">
            <a:avLst/>
          </a:prstGeom>
          <a:solidFill>
            <a:srgbClr val="FF704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91" name="Прямоугольный треугольник 90">
            <a:extLst>
              <a:ext uri="{FF2B5EF4-FFF2-40B4-BE49-F238E27FC236}">
                <a16:creationId xmlns:a16="http://schemas.microsoft.com/office/drawing/2014/main" id="{2F362A1F-9E5D-1B08-4CF1-26F92D093E68}"/>
              </a:ext>
            </a:extLst>
          </p:cNvPr>
          <p:cNvSpPr/>
          <p:nvPr/>
        </p:nvSpPr>
        <p:spPr>
          <a:xfrm rot="5400000">
            <a:off x="0" y="-21371"/>
            <a:ext cx="1080000" cy="1080000"/>
          </a:xfrm>
          <a:prstGeom prst="rtTriangle">
            <a:avLst/>
          </a:prstGeom>
          <a:solidFill>
            <a:srgbClr val="FF704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92" name="Прямоугольный треугольник 91">
            <a:extLst>
              <a:ext uri="{FF2B5EF4-FFF2-40B4-BE49-F238E27FC236}">
                <a16:creationId xmlns:a16="http://schemas.microsoft.com/office/drawing/2014/main" id="{B2480674-0278-202B-C99C-4A2FECE4C25D}"/>
              </a:ext>
            </a:extLst>
          </p:cNvPr>
          <p:cNvSpPr/>
          <p:nvPr/>
        </p:nvSpPr>
        <p:spPr>
          <a:xfrm>
            <a:off x="0" y="7149600"/>
            <a:ext cx="1080000" cy="1080000"/>
          </a:xfrm>
          <a:prstGeom prst="rtTriangle">
            <a:avLst/>
          </a:prstGeom>
          <a:solidFill>
            <a:srgbClr val="FF704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93" name="Прямоугольный треугольник 92">
            <a:extLst>
              <a:ext uri="{FF2B5EF4-FFF2-40B4-BE49-F238E27FC236}">
                <a16:creationId xmlns:a16="http://schemas.microsoft.com/office/drawing/2014/main" id="{AACCBD4E-ACDF-692B-AF80-F848DCF81287}"/>
              </a:ext>
            </a:extLst>
          </p:cNvPr>
          <p:cNvSpPr/>
          <p:nvPr/>
        </p:nvSpPr>
        <p:spPr>
          <a:xfrm rot="16200000">
            <a:off x="13550400" y="7153610"/>
            <a:ext cx="1080000" cy="1080000"/>
          </a:xfrm>
          <a:prstGeom prst="rtTriangle">
            <a:avLst/>
          </a:prstGeom>
          <a:solidFill>
            <a:srgbClr val="FF704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2" name="Прямоугольник: скругленные углы 1">
            <a:extLst>
              <a:ext uri="{FF2B5EF4-FFF2-40B4-BE49-F238E27FC236}">
                <a16:creationId xmlns:a16="http://schemas.microsoft.com/office/drawing/2014/main" id="{C8C562AE-0E3B-0E03-C736-93C0B63677F2}"/>
              </a:ext>
            </a:extLst>
          </p:cNvPr>
          <p:cNvSpPr/>
          <p:nvPr/>
        </p:nvSpPr>
        <p:spPr>
          <a:xfrm>
            <a:off x="14230350" y="7928040"/>
            <a:ext cx="400050" cy="301559"/>
          </a:xfrm>
          <a:prstGeom prst="roundRect">
            <a:avLst/>
          </a:prstGeom>
          <a:solidFill>
            <a:srgbClr val="FF704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14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Inter" panose="020B0604020202020204" charset="0"/>
                <a:ea typeface="Inter" panose="020B0604020202020204" charset="0"/>
                <a:cs typeface="Times New Roman" panose="02020603050405020304" pitchFamily="18" charset="0"/>
              </a:rPr>
              <a:t>10</a:t>
            </a:r>
          </a:p>
        </p:txBody>
      </p:sp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84387E5F-2E69-7F9A-96AE-AC3ADD937738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b="5764"/>
          <a:stretch>
            <a:fillRect/>
          </a:stretch>
        </p:blipFill>
        <p:spPr>
          <a:xfrm>
            <a:off x="2190304" y="666268"/>
            <a:ext cx="10450875" cy="74042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7482629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0" y="103770"/>
            <a:ext cx="9144000" cy="6350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4850"/>
              </a:lnSpc>
              <a:buNone/>
            </a:pPr>
            <a:r>
              <a:rPr lang="ru-RU" sz="3700" dirty="0">
                <a:latin typeface="Inter" panose="020B0604020202020204" charset="0"/>
                <a:ea typeface="Inter" panose="020B0604020202020204" charset="0"/>
                <a:cs typeface="Inter" pitchFamily="34" charset="-120"/>
              </a:rPr>
              <a:t>Распределение обязанностей</a:t>
            </a:r>
            <a:endParaRPr lang="en-US" sz="3700" dirty="0">
              <a:latin typeface="Inter" panose="020B0604020202020204" charset="0"/>
              <a:ea typeface="Inter" panose="020B0604020202020204" charset="0"/>
            </a:endParaRPr>
          </a:p>
        </p:txBody>
      </p:sp>
      <p:sp>
        <p:nvSpPr>
          <p:cNvPr id="14" name="Прямоугольник: скругленные углы 13">
            <a:extLst>
              <a:ext uri="{FF2B5EF4-FFF2-40B4-BE49-F238E27FC236}">
                <a16:creationId xmlns:a16="http://schemas.microsoft.com/office/drawing/2014/main" id="{9D53A59E-CDA4-18C2-4E0A-0231F40EDC68}"/>
              </a:ext>
            </a:extLst>
          </p:cNvPr>
          <p:cNvSpPr/>
          <p:nvPr/>
        </p:nvSpPr>
        <p:spPr>
          <a:xfrm>
            <a:off x="14230350" y="7928040"/>
            <a:ext cx="400050" cy="301559"/>
          </a:xfrm>
          <a:prstGeom prst="roundRect">
            <a:avLst/>
          </a:prstGeom>
          <a:solidFill>
            <a:srgbClr val="FAC2AB"/>
          </a:solidFill>
          <a:ln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ru-RU" sz="1400" dirty="0">
                <a:latin typeface="Inter" panose="020B0604020202020204" charset="0"/>
                <a:ea typeface="Inter" panose="020B0604020202020204" charset="0"/>
                <a:cs typeface="Times New Roman" panose="02020603050405020304" pitchFamily="18" charset="0"/>
              </a:rPr>
              <a:t>11</a:t>
            </a:r>
          </a:p>
        </p:txBody>
      </p:sp>
      <p:grpSp>
        <p:nvGrpSpPr>
          <p:cNvPr id="15" name="Группа 14">
            <a:extLst>
              <a:ext uri="{FF2B5EF4-FFF2-40B4-BE49-F238E27FC236}">
                <a16:creationId xmlns:a16="http://schemas.microsoft.com/office/drawing/2014/main" id="{3BC10FB4-E2A8-D36C-FB8F-5FAD9121FA22}"/>
              </a:ext>
            </a:extLst>
          </p:cNvPr>
          <p:cNvGrpSpPr/>
          <p:nvPr/>
        </p:nvGrpSpPr>
        <p:grpSpPr>
          <a:xfrm>
            <a:off x="264331" y="1236678"/>
            <a:ext cx="8615334" cy="2083631"/>
            <a:chOff x="745699" y="4925263"/>
            <a:chExt cx="6249106" cy="1683830"/>
          </a:xfrm>
        </p:grpSpPr>
        <p:grpSp>
          <p:nvGrpSpPr>
            <p:cNvPr id="16" name="Группа 15">
              <a:extLst>
                <a:ext uri="{FF2B5EF4-FFF2-40B4-BE49-F238E27FC236}">
                  <a16:creationId xmlns:a16="http://schemas.microsoft.com/office/drawing/2014/main" id="{F49FAE1A-A657-82E2-6F6F-14F9584D1718}"/>
                </a:ext>
              </a:extLst>
            </p:cNvPr>
            <p:cNvGrpSpPr/>
            <p:nvPr/>
          </p:nvGrpSpPr>
          <p:grpSpPr>
            <a:xfrm>
              <a:off x="745699" y="4925263"/>
              <a:ext cx="6249106" cy="1683830"/>
              <a:chOff x="745699" y="4925263"/>
              <a:chExt cx="6249106" cy="1683830"/>
            </a:xfrm>
          </p:grpSpPr>
          <p:grpSp>
            <p:nvGrpSpPr>
              <p:cNvPr id="19" name="Группа 18">
                <a:extLst>
                  <a:ext uri="{FF2B5EF4-FFF2-40B4-BE49-F238E27FC236}">
                    <a16:creationId xmlns:a16="http://schemas.microsoft.com/office/drawing/2014/main" id="{F3677761-8BD6-CBFC-2D26-259A3F82888B}"/>
                  </a:ext>
                </a:extLst>
              </p:cNvPr>
              <p:cNvGrpSpPr/>
              <p:nvPr/>
            </p:nvGrpSpPr>
            <p:grpSpPr>
              <a:xfrm>
                <a:off x="745699" y="4925263"/>
                <a:ext cx="6249106" cy="1683830"/>
                <a:chOff x="770928" y="4944189"/>
                <a:chExt cx="7014063" cy="1683830"/>
              </a:xfrm>
            </p:grpSpPr>
            <p:sp>
              <p:nvSpPr>
                <p:cNvPr id="21" name="Shape 2"/>
                <p:cNvSpPr/>
                <p:nvPr/>
              </p:nvSpPr>
              <p:spPr>
                <a:xfrm>
                  <a:off x="793791" y="4944189"/>
                  <a:ext cx="6991200" cy="1683830"/>
                </a:xfrm>
                <a:prstGeom prst="roundRect">
                  <a:avLst>
                    <a:gd name="adj" fmla="val 4223"/>
                  </a:avLst>
                </a:prstGeom>
                <a:solidFill>
                  <a:srgbClr val="FFFFFF"/>
                </a:solidFill>
                <a:ln w="22860">
                  <a:solidFill>
                    <a:srgbClr val="FF7047"/>
                  </a:solidFill>
                  <a:prstDash val="solid"/>
                </a:ln>
              </p:spPr>
              <p:txBody>
                <a:bodyPr/>
                <a:lstStyle/>
                <a:p>
                  <a:endParaRPr lang="ru-RU" dirty="0">
                    <a:latin typeface="Inter" panose="020B0604020202020204" charset="0"/>
                    <a:ea typeface="Inter" panose="020B0604020202020204" charset="0"/>
                  </a:endParaRPr>
                </a:p>
              </p:txBody>
            </p:sp>
            <p:sp>
              <p:nvSpPr>
                <p:cNvPr id="22" name="Shape 3"/>
                <p:cNvSpPr/>
                <p:nvPr/>
              </p:nvSpPr>
              <p:spPr>
                <a:xfrm>
                  <a:off x="770928" y="4944189"/>
                  <a:ext cx="88169" cy="1683830"/>
                </a:xfrm>
                <a:prstGeom prst="roundRect">
                  <a:avLst>
                    <a:gd name="adj" fmla="val 195349"/>
                  </a:avLst>
                </a:prstGeom>
                <a:solidFill>
                  <a:srgbClr val="FF7047"/>
                </a:solidFill>
                <a:ln/>
              </p:spPr>
              <p:txBody>
                <a:bodyPr/>
                <a:lstStyle/>
                <a:p>
                  <a:endParaRPr lang="ru-RU" dirty="0">
                    <a:latin typeface="Inter" panose="020B0604020202020204" charset="0"/>
                    <a:ea typeface="Inter" panose="020B0604020202020204" charset="0"/>
                  </a:endParaRPr>
                </a:p>
              </p:txBody>
            </p:sp>
          </p:grpSp>
          <p:sp>
            <p:nvSpPr>
              <p:cNvPr id="20" name="Text 4"/>
              <p:cNvSpPr/>
              <p:nvPr/>
            </p:nvSpPr>
            <p:spPr>
              <a:xfrm>
                <a:off x="844619" y="5027572"/>
                <a:ext cx="1288493" cy="310158"/>
              </a:xfrm>
              <a:prstGeom prst="rect">
                <a:avLst/>
              </a:prstGeom>
              <a:noFill/>
              <a:ln/>
            </p:spPr>
            <p:txBody>
              <a:bodyPr wrap="none" lIns="0" tIns="0" rIns="0" bIns="0" rtlCol="0" anchor="t"/>
              <a:lstStyle/>
              <a:p>
                <a:pPr marL="0" indent="0" algn="ctr">
                  <a:lnSpc>
                    <a:spcPts val="2400"/>
                  </a:lnSpc>
                  <a:buNone/>
                </a:pPr>
                <a:r>
                  <a:rPr lang="ru-RU" sz="2000" b="1" dirty="0">
                    <a:latin typeface="Inter" panose="020B0604020202020204" charset="0"/>
                    <a:ea typeface="Inter" panose="020B0604020202020204" charset="0"/>
                    <a:cs typeface="Inter" pitchFamily="34" charset="-120"/>
                  </a:rPr>
                  <a:t>Якушев С.А.:</a:t>
                </a:r>
                <a:endParaRPr lang="en-US" sz="2000" b="1" dirty="0">
                  <a:latin typeface="Inter" panose="020B0604020202020204" charset="0"/>
                  <a:ea typeface="Inter" panose="020B0604020202020204" charset="0"/>
                </a:endParaRPr>
              </a:p>
            </p:txBody>
          </p:sp>
        </p:grpSp>
        <p:sp>
          <p:nvSpPr>
            <p:cNvPr id="17" name="Text 5"/>
            <p:cNvSpPr/>
            <p:nvPr/>
          </p:nvSpPr>
          <p:spPr>
            <a:xfrm>
              <a:off x="1083588" y="6114460"/>
              <a:ext cx="5911215" cy="31754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marL="342900" indent="-342900" algn="l">
                <a:lnSpc>
                  <a:spcPts val="2500"/>
                </a:lnSpc>
                <a:buSzPct val="100000"/>
                <a:buChar char="•"/>
              </a:pPr>
              <a:endParaRPr lang="en-US" dirty="0">
                <a:latin typeface="Inter" panose="020B0604020202020204" charset="0"/>
                <a:ea typeface="Inter" panose="020B0604020202020204" charset="0"/>
              </a:endParaRPr>
            </a:p>
          </p:txBody>
        </p:sp>
        <p:sp>
          <p:nvSpPr>
            <p:cNvPr id="18" name="Text 6"/>
            <p:cNvSpPr/>
            <p:nvPr/>
          </p:nvSpPr>
          <p:spPr>
            <a:xfrm>
              <a:off x="905720" y="5416286"/>
              <a:ext cx="5930829" cy="1067217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marL="342900" indent="-342900">
                <a:lnSpc>
                  <a:spcPts val="2500"/>
                </a:lnSpc>
                <a:buSzPct val="100000"/>
                <a:buFontTx/>
                <a:buChar char="•"/>
              </a:pPr>
              <a:r>
                <a:rPr lang="ru-RU" sz="2000" dirty="0">
                  <a:latin typeface="Inter" panose="020B0604020202020204" charset="0"/>
                  <a:ea typeface="Inter" panose="020B0604020202020204" charset="0"/>
                </a:rPr>
                <a:t>Общая архитектура проекта и координация команды;</a:t>
              </a:r>
              <a:endParaRPr lang="ru-RU" sz="2000" dirty="0">
                <a:latin typeface="Inter" panose="020B0604020202020204" charset="0"/>
                <a:ea typeface="Inter" panose="020B0604020202020204" charset="0"/>
                <a:cs typeface="Manrope" pitchFamily="34" charset="-120"/>
              </a:endParaRPr>
            </a:p>
            <a:p>
              <a:pPr marL="342900" indent="-342900">
                <a:lnSpc>
                  <a:spcPts val="2500"/>
                </a:lnSpc>
                <a:buSzPct val="100000"/>
                <a:buFontTx/>
                <a:buChar char="•"/>
              </a:pPr>
              <a:r>
                <a:rPr lang="ru-RU" sz="2000" dirty="0">
                  <a:latin typeface="Inter" panose="020B0604020202020204" charset="0"/>
                  <a:ea typeface="Inter" panose="020B0604020202020204" charset="0"/>
                  <a:cs typeface="Manrope" pitchFamily="34" charset="-120"/>
                </a:rPr>
                <a:t>Страница входа;</a:t>
              </a:r>
            </a:p>
            <a:p>
              <a:pPr marL="342900" indent="-342900">
                <a:lnSpc>
                  <a:spcPts val="2500"/>
                </a:lnSpc>
                <a:buSzPct val="100000"/>
                <a:buFontTx/>
                <a:buChar char="•"/>
              </a:pPr>
              <a:r>
                <a:rPr lang="ru-RU" sz="2000" dirty="0">
                  <a:latin typeface="Inter" panose="020B0604020202020204" charset="0"/>
                  <a:ea typeface="Inter" panose="020B0604020202020204" charset="0"/>
                </a:rPr>
                <a:t>Страница «Уведомления»;</a:t>
              </a:r>
            </a:p>
            <a:p>
              <a:pPr marL="342900" indent="-342900">
                <a:lnSpc>
                  <a:spcPts val="2500"/>
                </a:lnSpc>
                <a:buSzPct val="100000"/>
                <a:buFontTx/>
                <a:buChar char="•"/>
              </a:pPr>
              <a:r>
                <a:rPr lang="ru-RU" sz="2000" dirty="0">
                  <a:latin typeface="Inter" panose="020B0604020202020204" charset="0"/>
                  <a:ea typeface="Inter" panose="020B0604020202020204" charset="0"/>
                </a:rPr>
                <a:t>Управление репозиторием </a:t>
              </a:r>
              <a:r>
                <a:rPr lang="en-US" sz="2000" dirty="0">
                  <a:latin typeface="Inter" panose="020B0604020202020204" charset="0"/>
                  <a:ea typeface="Inter" panose="020B0604020202020204" charset="0"/>
                </a:rPr>
                <a:t>GitHub</a:t>
              </a:r>
              <a:r>
                <a:rPr lang="ru-RU" sz="2000" dirty="0">
                  <a:latin typeface="Inter" panose="020B0604020202020204" charset="0"/>
                  <a:ea typeface="Inter" panose="020B0604020202020204" charset="0"/>
                </a:rPr>
                <a:t>.</a:t>
              </a:r>
            </a:p>
          </p:txBody>
        </p:sp>
      </p:grpSp>
      <p:grpSp>
        <p:nvGrpSpPr>
          <p:cNvPr id="55" name="Группа 54">
            <a:extLst>
              <a:ext uri="{FF2B5EF4-FFF2-40B4-BE49-F238E27FC236}">
                <a16:creationId xmlns:a16="http://schemas.microsoft.com/office/drawing/2014/main" id="{3BC10FB4-E2A8-D36C-FB8F-5FAD9121FA22}"/>
              </a:ext>
            </a:extLst>
          </p:cNvPr>
          <p:cNvGrpSpPr/>
          <p:nvPr/>
        </p:nvGrpSpPr>
        <p:grpSpPr>
          <a:xfrm>
            <a:off x="264330" y="3762006"/>
            <a:ext cx="8615332" cy="1954768"/>
            <a:chOff x="745700" y="4925263"/>
            <a:chExt cx="6249105" cy="1506737"/>
          </a:xfrm>
        </p:grpSpPr>
        <p:grpSp>
          <p:nvGrpSpPr>
            <p:cNvPr id="56" name="Группа 55">
              <a:extLst>
                <a:ext uri="{FF2B5EF4-FFF2-40B4-BE49-F238E27FC236}">
                  <a16:creationId xmlns:a16="http://schemas.microsoft.com/office/drawing/2014/main" id="{F49FAE1A-A657-82E2-6F6F-14F9584D1718}"/>
                </a:ext>
              </a:extLst>
            </p:cNvPr>
            <p:cNvGrpSpPr/>
            <p:nvPr/>
          </p:nvGrpSpPr>
          <p:grpSpPr>
            <a:xfrm>
              <a:off x="745700" y="4925263"/>
              <a:ext cx="6249105" cy="1189197"/>
              <a:chOff x="745700" y="4925263"/>
              <a:chExt cx="6249105" cy="1189197"/>
            </a:xfrm>
          </p:grpSpPr>
          <p:grpSp>
            <p:nvGrpSpPr>
              <p:cNvPr id="59" name="Группа 58">
                <a:extLst>
                  <a:ext uri="{FF2B5EF4-FFF2-40B4-BE49-F238E27FC236}">
                    <a16:creationId xmlns:a16="http://schemas.microsoft.com/office/drawing/2014/main" id="{F3677761-8BD6-CBFC-2D26-259A3F82888B}"/>
                  </a:ext>
                </a:extLst>
              </p:cNvPr>
              <p:cNvGrpSpPr/>
              <p:nvPr/>
            </p:nvGrpSpPr>
            <p:grpSpPr>
              <a:xfrm>
                <a:off x="745700" y="4925263"/>
                <a:ext cx="6249105" cy="1189197"/>
                <a:chOff x="770929" y="4944189"/>
                <a:chExt cx="7014062" cy="1189197"/>
              </a:xfrm>
            </p:grpSpPr>
            <p:sp>
              <p:nvSpPr>
                <p:cNvPr id="61" name="Shape 2"/>
                <p:cNvSpPr/>
                <p:nvPr/>
              </p:nvSpPr>
              <p:spPr>
                <a:xfrm>
                  <a:off x="793791" y="4944189"/>
                  <a:ext cx="6991200" cy="1189197"/>
                </a:xfrm>
                <a:prstGeom prst="roundRect">
                  <a:avLst>
                    <a:gd name="adj" fmla="val 4223"/>
                  </a:avLst>
                </a:prstGeom>
                <a:solidFill>
                  <a:srgbClr val="FFFFFF"/>
                </a:solidFill>
                <a:ln w="22860">
                  <a:solidFill>
                    <a:srgbClr val="FF7047"/>
                  </a:solidFill>
                  <a:prstDash val="solid"/>
                </a:ln>
              </p:spPr>
              <p:txBody>
                <a:bodyPr/>
                <a:lstStyle/>
                <a:p>
                  <a:endParaRPr lang="ru-RU" dirty="0">
                    <a:latin typeface="Inter" panose="020B0604020202020204" charset="0"/>
                    <a:ea typeface="Inter" panose="020B0604020202020204" charset="0"/>
                  </a:endParaRPr>
                </a:p>
              </p:txBody>
            </p:sp>
            <p:sp>
              <p:nvSpPr>
                <p:cNvPr id="62" name="Shape 3"/>
                <p:cNvSpPr/>
                <p:nvPr/>
              </p:nvSpPr>
              <p:spPr>
                <a:xfrm>
                  <a:off x="770929" y="4944189"/>
                  <a:ext cx="88169" cy="1189197"/>
                </a:xfrm>
                <a:prstGeom prst="roundRect">
                  <a:avLst>
                    <a:gd name="adj" fmla="val 195349"/>
                  </a:avLst>
                </a:prstGeom>
                <a:solidFill>
                  <a:srgbClr val="FF7047"/>
                </a:solidFill>
                <a:ln/>
              </p:spPr>
              <p:txBody>
                <a:bodyPr/>
                <a:lstStyle/>
                <a:p>
                  <a:endParaRPr lang="ru-RU" dirty="0">
                    <a:latin typeface="Inter" panose="020B0604020202020204" charset="0"/>
                    <a:ea typeface="Inter" panose="020B0604020202020204" charset="0"/>
                  </a:endParaRPr>
                </a:p>
              </p:txBody>
            </p:sp>
          </p:grpSp>
          <p:sp>
            <p:nvSpPr>
              <p:cNvPr id="60" name="Text 4"/>
              <p:cNvSpPr/>
              <p:nvPr/>
            </p:nvSpPr>
            <p:spPr>
              <a:xfrm>
                <a:off x="844619" y="5027572"/>
                <a:ext cx="1288493" cy="310158"/>
              </a:xfrm>
              <a:prstGeom prst="rect">
                <a:avLst/>
              </a:prstGeom>
              <a:noFill/>
              <a:ln/>
            </p:spPr>
            <p:txBody>
              <a:bodyPr wrap="none" lIns="0" tIns="0" rIns="0" bIns="0" rtlCol="0" anchor="t"/>
              <a:lstStyle/>
              <a:p>
                <a:pPr marL="0" indent="0" algn="ctr">
                  <a:lnSpc>
                    <a:spcPts val="2400"/>
                  </a:lnSpc>
                  <a:buNone/>
                </a:pPr>
                <a:r>
                  <a:rPr lang="ru-RU" sz="2000" b="1" dirty="0">
                    <a:latin typeface="Inter" panose="020B0604020202020204" charset="0"/>
                    <a:ea typeface="Inter" panose="020B0604020202020204" charset="0"/>
                    <a:cs typeface="Inter" pitchFamily="34" charset="-120"/>
                  </a:rPr>
                  <a:t>Сахаров В.В.:</a:t>
                </a:r>
                <a:endParaRPr lang="en-US" sz="2000" b="1" dirty="0">
                  <a:latin typeface="Inter" panose="020B0604020202020204" charset="0"/>
                  <a:ea typeface="Inter" panose="020B0604020202020204" charset="0"/>
                </a:endParaRPr>
              </a:p>
            </p:txBody>
          </p:sp>
        </p:grpSp>
        <p:sp>
          <p:nvSpPr>
            <p:cNvPr id="57" name="Text 5"/>
            <p:cNvSpPr/>
            <p:nvPr/>
          </p:nvSpPr>
          <p:spPr>
            <a:xfrm>
              <a:off x="1083588" y="6114460"/>
              <a:ext cx="5911215" cy="31754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marL="342900" indent="-342900" algn="l">
                <a:lnSpc>
                  <a:spcPts val="2500"/>
                </a:lnSpc>
                <a:buSzPct val="100000"/>
                <a:buChar char="•"/>
              </a:pPr>
              <a:endParaRPr lang="en-US" dirty="0">
                <a:latin typeface="Inter" panose="020B0604020202020204" charset="0"/>
                <a:ea typeface="Inter" panose="020B0604020202020204" charset="0"/>
              </a:endParaRPr>
            </a:p>
          </p:txBody>
        </p:sp>
        <p:sp>
          <p:nvSpPr>
            <p:cNvPr id="58" name="Text 6"/>
            <p:cNvSpPr/>
            <p:nvPr/>
          </p:nvSpPr>
          <p:spPr>
            <a:xfrm>
              <a:off x="905720" y="5415469"/>
              <a:ext cx="5930829" cy="636641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marL="342900" indent="-342900">
                <a:lnSpc>
                  <a:spcPts val="2500"/>
                </a:lnSpc>
                <a:buSzPct val="100000"/>
                <a:buFontTx/>
                <a:buChar char="•"/>
              </a:pPr>
              <a:r>
                <a:rPr lang="ru-RU" sz="2000" dirty="0">
                  <a:latin typeface="Inter" panose="020B0604020202020204" charset="0"/>
                  <a:ea typeface="Inter" panose="020B0604020202020204" charset="0"/>
                  <a:cs typeface="Manrope" pitchFamily="34" charset="-120"/>
                </a:rPr>
                <a:t>Модуль «Бронирование»;</a:t>
              </a:r>
            </a:p>
            <a:p>
              <a:pPr marL="342900" indent="-342900">
                <a:lnSpc>
                  <a:spcPts val="2500"/>
                </a:lnSpc>
                <a:buSzPct val="100000"/>
                <a:buFontTx/>
                <a:buChar char="•"/>
              </a:pPr>
              <a:r>
                <a:rPr lang="ru-RU" sz="2000" dirty="0">
                  <a:latin typeface="Inter" panose="020B0604020202020204" charset="0"/>
                  <a:ea typeface="Inter" panose="020B0604020202020204" charset="0"/>
                  <a:cs typeface="Manrope" pitchFamily="34" charset="-120"/>
                </a:rPr>
                <a:t>Модуль «Техника».</a:t>
              </a:r>
            </a:p>
          </p:txBody>
        </p:sp>
      </p:grpSp>
      <p:grpSp>
        <p:nvGrpSpPr>
          <p:cNvPr id="63" name="Группа 62">
            <a:extLst>
              <a:ext uri="{FF2B5EF4-FFF2-40B4-BE49-F238E27FC236}">
                <a16:creationId xmlns:a16="http://schemas.microsoft.com/office/drawing/2014/main" id="{3BC10FB4-E2A8-D36C-FB8F-5FAD9121FA22}"/>
              </a:ext>
            </a:extLst>
          </p:cNvPr>
          <p:cNvGrpSpPr/>
          <p:nvPr/>
        </p:nvGrpSpPr>
        <p:grpSpPr>
          <a:xfrm>
            <a:off x="264328" y="5797664"/>
            <a:ext cx="8615331" cy="1954768"/>
            <a:chOff x="745701" y="4925263"/>
            <a:chExt cx="6249104" cy="1506737"/>
          </a:xfrm>
        </p:grpSpPr>
        <p:grpSp>
          <p:nvGrpSpPr>
            <p:cNvPr id="64" name="Группа 63">
              <a:extLst>
                <a:ext uri="{FF2B5EF4-FFF2-40B4-BE49-F238E27FC236}">
                  <a16:creationId xmlns:a16="http://schemas.microsoft.com/office/drawing/2014/main" id="{F49FAE1A-A657-82E2-6F6F-14F9584D1718}"/>
                </a:ext>
              </a:extLst>
            </p:cNvPr>
            <p:cNvGrpSpPr/>
            <p:nvPr/>
          </p:nvGrpSpPr>
          <p:grpSpPr>
            <a:xfrm>
              <a:off x="745701" y="4925263"/>
              <a:ext cx="6249104" cy="1376134"/>
              <a:chOff x="745701" y="4925263"/>
              <a:chExt cx="6249104" cy="1376134"/>
            </a:xfrm>
          </p:grpSpPr>
          <p:grpSp>
            <p:nvGrpSpPr>
              <p:cNvPr id="67" name="Группа 66">
                <a:extLst>
                  <a:ext uri="{FF2B5EF4-FFF2-40B4-BE49-F238E27FC236}">
                    <a16:creationId xmlns:a16="http://schemas.microsoft.com/office/drawing/2014/main" id="{F3677761-8BD6-CBFC-2D26-259A3F82888B}"/>
                  </a:ext>
                </a:extLst>
              </p:cNvPr>
              <p:cNvGrpSpPr/>
              <p:nvPr/>
            </p:nvGrpSpPr>
            <p:grpSpPr>
              <a:xfrm>
                <a:off x="745701" y="4925263"/>
                <a:ext cx="6249104" cy="1376134"/>
                <a:chOff x="770930" y="4944189"/>
                <a:chExt cx="7014061" cy="1376134"/>
              </a:xfrm>
            </p:grpSpPr>
            <p:sp>
              <p:nvSpPr>
                <p:cNvPr id="69" name="Shape 2"/>
                <p:cNvSpPr/>
                <p:nvPr/>
              </p:nvSpPr>
              <p:spPr>
                <a:xfrm>
                  <a:off x="793791" y="4944189"/>
                  <a:ext cx="6991200" cy="1376134"/>
                </a:xfrm>
                <a:prstGeom prst="roundRect">
                  <a:avLst>
                    <a:gd name="adj" fmla="val 4223"/>
                  </a:avLst>
                </a:prstGeom>
                <a:solidFill>
                  <a:srgbClr val="FFFFFF"/>
                </a:solidFill>
                <a:ln w="22860">
                  <a:solidFill>
                    <a:srgbClr val="FF7047"/>
                  </a:solidFill>
                  <a:prstDash val="solid"/>
                </a:ln>
              </p:spPr>
              <p:txBody>
                <a:bodyPr/>
                <a:lstStyle/>
                <a:p>
                  <a:endParaRPr lang="ru-RU" dirty="0">
                    <a:latin typeface="Inter" panose="020B0604020202020204" charset="0"/>
                    <a:ea typeface="Inter" panose="020B0604020202020204" charset="0"/>
                  </a:endParaRPr>
                </a:p>
              </p:txBody>
            </p:sp>
            <p:sp>
              <p:nvSpPr>
                <p:cNvPr id="70" name="Shape 3"/>
                <p:cNvSpPr/>
                <p:nvPr/>
              </p:nvSpPr>
              <p:spPr>
                <a:xfrm>
                  <a:off x="770930" y="4944189"/>
                  <a:ext cx="88165" cy="1376134"/>
                </a:xfrm>
                <a:prstGeom prst="roundRect">
                  <a:avLst>
                    <a:gd name="adj" fmla="val 195349"/>
                  </a:avLst>
                </a:prstGeom>
                <a:solidFill>
                  <a:srgbClr val="FF7047"/>
                </a:solidFill>
                <a:ln/>
              </p:spPr>
              <p:txBody>
                <a:bodyPr/>
                <a:lstStyle/>
                <a:p>
                  <a:endParaRPr lang="ru-RU" dirty="0">
                    <a:latin typeface="Inter" panose="020B0604020202020204" charset="0"/>
                    <a:ea typeface="Inter" panose="020B0604020202020204" charset="0"/>
                  </a:endParaRPr>
                </a:p>
              </p:txBody>
            </p:sp>
          </p:grpSp>
          <p:sp>
            <p:nvSpPr>
              <p:cNvPr id="68" name="Text 4"/>
              <p:cNvSpPr/>
              <p:nvPr/>
            </p:nvSpPr>
            <p:spPr>
              <a:xfrm>
                <a:off x="844619" y="5027572"/>
                <a:ext cx="1288493" cy="310158"/>
              </a:xfrm>
              <a:prstGeom prst="rect">
                <a:avLst/>
              </a:prstGeom>
              <a:noFill/>
              <a:ln/>
            </p:spPr>
            <p:txBody>
              <a:bodyPr wrap="none" lIns="0" tIns="0" rIns="0" bIns="0" rtlCol="0" anchor="t"/>
              <a:lstStyle/>
              <a:p>
                <a:pPr marL="0" indent="0" algn="ctr">
                  <a:lnSpc>
                    <a:spcPts val="2400"/>
                  </a:lnSpc>
                  <a:buNone/>
                </a:pPr>
                <a:r>
                  <a:rPr lang="ru-RU" sz="2000" b="1" dirty="0">
                    <a:latin typeface="Inter" panose="020B0604020202020204" charset="0"/>
                    <a:ea typeface="Inter" panose="020B0604020202020204" charset="0"/>
                    <a:cs typeface="Inter" pitchFamily="34" charset="-120"/>
                  </a:rPr>
                  <a:t>Ильин П.Е.:</a:t>
                </a:r>
                <a:endParaRPr lang="en-US" sz="2000" b="1" dirty="0">
                  <a:latin typeface="Inter" panose="020B0604020202020204" charset="0"/>
                  <a:ea typeface="Inter" panose="020B0604020202020204" charset="0"/>
                </a:endParaRPr>
              </a:p>
            </p:txBody>
          </p:sp>
        </p:grpSp>
        <p:sp>
          <p:nvSpPr>
            <p:cNvPr id="65" name="Text 5"/>
            <p:cNvSpPr/>
            <p:nvPr/>
          </p:nvSpPr>
          <p:spPr>
            <a:xfrm>
              <a:off x="1083588" y="6114460"/>
              <a:ext cx="5911215" cy="31754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marL="342900" indent="-342900" algn="l">
                <a:lnSpc>
                  <a:spcPts val="2500"/>
                </a:lnSpc>
                <a:buSzPct val="100000"/>
                <a:buChar char="•"/>
              </a:pPr>
              <a:endParaRPr lang="en-US" dirty="0">
                <a:latin typeface="Inter" panose="020B0604020202020204" charset="0"/>
                <a:ea typeface="Inter" panose="020B0604020202020204" charset="0"/>
              </a:endParaRPr>
            </a:p>
          </p:txBody>
        </p:sp>
        <p:sp>
          <p:nvSpPr>
            <p:cNvPr id="66" name="Text 6"/>
            <p:cNvSpPr/>
            <p:nvPr/>
          </p:nvSpPr>
          <p:spPr>
            <a:xfrm>
              <a:off x="905720" y="5410410"/>
              <a:ext cx="5930829" cy="749678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marL="342900" indent="-342900">
                <a:lnSpc>
                  <a:spcPts val="2500"/>
                </a:lnSpc>
                <a:buSzPct val="100000"/>
                <a:buFontTx/>
                <a:buChar char="•"/>
              </a:pPr>
              <a:r>
                <a:rPr lang="ru-RU" sz="2000" dirty="0">
                  <a:latin typeface="Inter" panose="020B0604020202020204" charset="0"/>
                  <a:ea typeface="Inter" panose="020B0604020202020204" charset="0"/>
                </a:rPr>
                <a:t>Страница «Статистика»;</a:t>
              </a:r>
            </a:p>
            <a:p>
              <a:pPr marL="342900" indent="-342900">
                <a:lnSpc>
                  <a:spcPts val="2500"/>
                </a:lnSpc>
                <a:buSzPct val="100000"/>
                <a:buFontTx/>
                <a:buChar char="•"/>
              </a:pPr>
              <a:r>
                <a:rPr lang="ru-RU" sz="2000" dirty="0">
                  <a:latin typeface="Inter" panose="020B0604020202020204" charset="0"/>
                  <a:ea typeface="Inter" panose="020B0604020202020204" charset="0"/>
                </a:rPr>
                <a:t>Дизайн интерфейса, CSS-стили;</a:t>
              </a:r>
            </a:p>
            <a:p>
              <a:pPr marL="342900" indent="-342900">
                <a:lnSpc>
                  <a:spcPts val="2500"/>
                </a:lnSpc>
                <a:buSzPct val="100000"/>
                <a:buFontTx/>
                <a:buChar char="•"/>
              </a:pPr>
              <a:r>
                <a:rPr lang="ru-RU" sz="2000" dirty="0">
                  <a:latin typeface="Inter" panose="020B0604020202020204" charset="0"/>
                  <a:ea typeface="Inter" panose="020B0604020202020204" charset="0"/>
                </a:rPr>
                <a:t>Презентация.</a:t>
              </a:r>
              <a:endParaRPr lang="ru-RU" sz="2000" dirty="0">
                <a:latin typeface="Inter" panose="020B0604020202020204" charset="0"/>
                <a:ea typeface="Inter" panose="020B0604020202020204" charset="0"/>
                <a:cs typeface="Manrope" pitchFamily="34" charset="-120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4F0C603-EACB-E77C-1530-01D41CE4F5E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
            <a:extLst>
              <a:ext uri="{FF2B5EF4-FFF2-40B4-BE49-F238E27FC236}">
                <a16:creationId xmlns:a16="http://schemas.microsoft.com/office/drawing/2014/main" id="{52924DC3-A192-2E19-801B-8696ED916E6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0" y="0"/>
            <a:ext cx="5486400" cy="8229600"/>
          </a:xfrm>
          <a:prstGeom prst="rect">
            <a:avLst/>
          </a:prstGeom>
        </p:spPr>
      </p:pic>
      <p:pic>
        <p:nvPicPr>
          <p:cNvPr id="8" name="Рисунок 7">
            <a:extLst>
              <a:ext uri="{FF2B5EF4-FFF2-40B4-BE49-F238E27FC236}">
                <a16:creationId xmlns:a16="http://schemas.microsoft.com/office/drawing/2014/main" id="{BB85A3E3-A753-0DB5-1D7C-84B2C7220A46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ackgroundRemoval t="10000" b="90000" l="10000" r="90000">
                        <a14:foregroundMark x1="40100" y1="37037" x2="40200" y2="47795"/>
                        <a14:foregroundMark x1="40200" y1="47795" x2="55300" y2="65432"/>
                        <a14:foregroundMark x1="55300" y1="65432" x2="57700" y2="41623"/>
                        <a14:foregroundMark x1="57700" y1="41623" x2="48800" y2="34744"/>
                        <a14:foregroundMark x1="48800" y1="34744" x2="47400" y2="35626"/>
                        <a14:foregroundMark x1="46300" y1="32804" x2="47200" y2="43915"/>
                        <a14:foregroundMark x1="47200" y1="43915" x2="42800" y2="36861"/>
                        <a14:foregroundMark x1="42800" y1="36861" x2="37700" y2="39330"/>
                        <a14:foregroundMark x1="44000" y1="35097" x2="51200" y2="40035"/>
                        <a14:foregroundMark x1="51200" y1="40035" x2="47800" y2="37037"/>
                        <a14:foregroundMark x1="46300" y1="41623" x2="47800" y2="39506"/>
                        <a14:foregroundMark x1="40400" y1="38624" x2="45100" y2="46737"/>
                        <a14:foregroundMark x1="45100" y1="46737" x2="50700" y2="43210"/>
                        <a14:foregroundMark x1="50700" y1="43210" x2="51100" y2="40212"/>
                        <a14:foregroundMark x1="39400" y1="40564" x2="44500" y2="46737"/>
                        <a14:foregroundMark x1="44500" y1="46737" x2="54100" y2="51675"/>
                        <a14:foregroundMark x1="54100" y1="51675" x2="52900" y2="46737"/>
                        <a14:foregroundMark x1="48300" y1="44092" x2="47700" y2="44092"/>
                        <a14:foregroundMark x1="42800" y1="40741" x2="51500" y2="42504"/>
                        <a14:foregroundMark x1="51500" y1="42504" x2="42500" y2="36508"/>
                        <a14:foregroundMark x1="42500" y1="36508" x2="46800" y2="41799"/>
                        <a14:foregroundMark x1="46800" y1="41799" x2="50800" y2="40212"/>
                        <a14:foregroundMark x1="51100" y1="40212" x2="49200" y2="45326"/>
                        <a14:foregroundMark x1="49400" y1="44974" x2="50500" y2="46737"/>
                        <a14:foregroundMark x1="49700" y1="45326" x2="49100" y2="49735"/>
                        <a14:foregroundMark x1="50700" y1="46737" x2="50400" y2="52028"/>
                        <a14:foregroundMark x1="51600" y1="43210" x2="51400" y2="47443"/>
                        <a14:foregroundMark x1="51900" y1="45855" x2="49200" y2="48325"/>
                        <a14:foregroundMark x1="47800" y1="46208" x2="47800" y2="46208"/>
                        <a14:foregroundMark x1="47300" y1="40035" x2="49600" y2="48677"/>
                        <a14:foregroundMark x1="49600" y1="48677" x2="52400" y2="44974"/>
                        <a14:foregroundMark x1="51500" y1="40035" x2="50700" y2="43210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719383" y="0"/>
            <a:ext cx="2539252" cy="1439756"/>
          </a:xfrm>
          <a:prstGeom prst="rect">
            <a:avLst/>
          </a:prstGeom>
        </p:spPr>
      </p:pic>
      <p:sp>
        <p:nvSpPr>
          <p:cNvPr id="6" name="Text 0"/>
          <p:cNvSpPr/>
          <p:nvPr/>
        </p:nvSpPr>
        <p:spPr>
          <a:xfrm>
            <a:off x="1114484" y="569476"/>
            <a:ext cx="7420570" cy="40025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4850"/>
              </a:lnSpc>
            </a:pPr>
            <a:r>
              <a:rPr lang="ru-RU" sz="3900" dirty="0">
                <a:solidFill>
                  <a:srgbClr val="0C0D0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Сайт для администрирования </a:t>
            </a:r>
            <a:r>
              <a:rPr lang="en-US" sz="3900" dirty="0">
                <a:solidFill>
                  <a:srgbClr val="0C0D0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Telegram</a:t>
            </a:r>
            <a:r>
              <a:rPr lang="ru-RU" sz="3900" dirty="0">
                <a:solidFill>
                  <a:srgbClr val="0C0D0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-бота для записи на стирку</a:t>
            </a:r>
          </a:p>
        </p:txBody>
      </p:sp>
      <p:sp>
        <p:nvSpPr>
          <p:cNvPr id="7" name="Text 1"/>
          <p:cNvSpPr/>
          <p:nvPr/>
        </p:nvSpPr>
        <p:spPr>
          <a:xfrm>
            <a:off x="1114485" y="5290979"/>
            <a:ext cx="7163242" cy="12050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ru-RU" sz="2400" b="1" dirty="0">
                <a:latin typeface="Inter" panose="020B0604020202020204" charset="0"/>
                <a:ea typeface="Inter" panose="020B0604020202020204" charset="0"/>
                <a:cs typeface="Times New Roman" panose="02020603050405020304" pitchFamily="18" charset="0"/>
              </a:rPr>
              <a:t>Авторы работы: Студенты КузГТУ</a:t>
            </a:r>
          </a:p>
          <a:p>
            <a:r>
              <a:rPr lang="ru-RU" sz="2400" dirty="0">
                <a:latin typeface="Inter" panose="020B0604020202020204" charset="0"/>
                <a:ea typeface="Inter" panose="020B0604020202020204" charset="0"/>
                <a:cs typeface="Times New Roman" panose="02020603050405020304" pitchFamily="18" charset="0"/>
              </a:rPr>
              <a:t>Якушев С.А., студент гр. ПИб-242, </a:t>
            </a:r>
            <a:r>
              <a:rPr lang="en-US" sz="2400" dirty="0">
                <a:latin typeface="Inter" panose="020B0604020202020204" charset="0"/>
                <a:ea typeface="Inter" panose="020B0604020202020204" charset="0"/>
                <a:cs typeface="Times New Roman" panose="02020603050405020304" pitchFamily="18" charset="0"/>
              </a:rPr>
              <a:t>II</a:t>
            </a:r>
            <a:r>
              <a:rPr lang="ru-RU" sz="2400" dirty="0">
                <a:latin typeface="Inter" panose="020B0604020202020204" charset="0"/>
                <a:ea typeface="Inter" panose="020B0604020202020204" charset="0"/>
                <a:cs typeface="Times New Roman" panose="02020603050405020304" pitchFamily="18" charset="0"/>
              </a:rPr>
              <a:t> курс</a:t>
            </a:r>
          </a:p>
          <a:p>
            <a:r>
              <a:rPr lang="ru-RU" sz="2400" dirty="0">
                <a:latin typeface="Inter" panose="020B0604020202020204" charset="0"/>
                <a:ea typeface="Inter" panose="020B0604020202020204" charset="0"/>
                <a:cs typeface="Times New Roman" panose="02020603050405020304" pitchFamily="18" charset="0"/>
              </a:rPr>
              <a:t>Сахаров В.В</a:t>
            </a:r>
            <a:r>
              <a:rPr lang="en-US" sz="2400" dirty="0">
                <a:latin typeface="Inter" panose="020B0604020202020204" charset="0"/>
                <a:ea typeface="Inter" panose="020B0604020202020204" charset="0"/>
                <a:cs typeface="Times New Roman" panose="02020603050405020304" pitchFamily="18" charset="0"/>
              </a:rPr>
              <a:t>., </a:t>
            </a:r>
            <a:r>
              <a:rPr lang="ru-RU" sz="2400" dirty="0">
                <a:latin typeface="Inter" panose="020B0604020202020204" charset="0"/>
                <a:ea typeface="Inter" panose="020B0604020202020204" charset="0"/>
                <a:cs typeface="Times New Roman" panose="02020603050405020304" pitchFamily="18" charset="0"/>
              </a:rPr>
              <a:t>студент гр. ПИб-242, </a:t>
            </a:r>
            <a:r>
              <a:rPr lang="en-US" sz="2400" dirty="0">
                <a:latin typeface="Inter" panose="020B0604020202020204" charset="0"/>
                <a:ea typeface="Inter" panose="020B0604020202020204" charset="0"/>
                <a:cs typeface="Times New Roman" panose="02020603050405020304" pitchFamily="18" charset="0"/>
              </a:rPr>
              <a:t>II</a:t>
            </a:r>
            <a:r>
              <a:rPr lang="ru-RU" sz="2400" dirty="0">
                <a:latin typeface="Inter" panose="020B0604020202020204" charset="0"/>
                <a:ea typeface="Inter" panose="020B0604020202020204" charset="0"/>
                <a:cs typeface="Times New Roman" panose="02020603050405020304" pitchFamily="18" charset="0"/>
              </a:rPr>
              <a:t> курс</a:t>
            </a:r>
          </a:p>
          <a:p>
            <a:r>
              <a:rPr lang="ru-RU" sz="2400" dirty="0">
                <a:latin typeface="Inter" panose="020B0604020202020204" charset="0"/>
                <a:ea typeface="Inter" panose="020B0604020202020204" charset="0"/>
                <a:cs typeface="Times New Roman" panose="02020603050405020304" pitchFamily="18" charset="0"/>
              </a:rPr>
              <a:t>Ильин П.Е</a:t>
            </a:r>
            <a:r>
              <a:rPr lang="en-US" sz="2400" dirty="0">
                <a:latin typeface="Inter" panose="020B0604020202020204" charset="0"/>
                <a:ea typeface="Inter" panose="020B0604020202020204" charset="0"/>
                <a:cs typeface="Times New Roman" panose="02020603050405020304" pitchFamily="18" charset="0"/>
              </a:rPr>
              <a:t>., </a:t>
            </a:r>
            <a:r>
              <a:rPr lang="ru-RU" sz="2400" dirty="0">
                <a:latin typeface="Inter" panose="020B0604020202020204" charset="0"/>
                <a:ea typeface="Inter" panose="020B0604020202020204" charset="0"/>
                <a:cs typeface="Times New Roman" panose="02020603050405020304" pitchFamily="18" charset="0"/>
              </a:rPr>
              <a:t>студент гр. ПИб-242, </a:t>
            </a:r>
            <a:r>
              <a:rPr lang="en-US" sz="2400" dirty="0">
                <a:latin typeface="Inter" panose="020B0604020202020204" charset="0"/>
                <a:ea typeface="Inter" panose="020B0604020202020204" charset="0"/>
                <a:cs typeface="Times New Roman" panose="02020603050405020304" pitchFamily="18" charset="0"/>
              </a:rPr>
              <a:t>II</a:t>
            </a:r>
            <a:r>
              <a:rPr lang="ru-RU" sz="2400" dirty="0">
                <a:latin typeface="Inter" panose="020B0604020202020204" charset="0"/>
                <a:ea typeface="Inter" panose="020B0604020202020204" charset="0"/>
                <a:cs typeface="Times New Roman" panose="02020603050405020304" pitchFamily="18" charset="0"/>
              </a:rPr>
              <a:t> курс</a:t>
            </a:r>
          </a:p>
          <a:p>
            <a:endParaRPr lang="ru-RU" sz="2400" dirty="0">
              <a:latin typeface="Inter" panose="020B0604020202020204" charset="0"/>
              <a:ea typeface="Inter" panose="020B0604020202020204" charset="0"/>
              <a:cs typeface="Times New Roman" panose="02020603050405020304" pitchFamily="18" charset="0"/>
            </a:endParaRPr>
          </a:p>
          <a:p>
            <a:r>
              <a:rPr lang="ru-RU" sz="2400" b="1" dirty="0">
                <a:latin typeface="Inter" panose="020B0604020202020204" charset="0"/>
                <a:ea typeface="Inter" panose="020B0604020202020204" charset="0"/>
                <a:cs typeface="Times New Roman" panose="02020603050405020304" pitchFamily="18" charset="0"/>
              </a:rPr>
              <a:t>Ссылка на репозиторий:</a:t>
            </a:r>
            <a:r>
              <a:rPr lang="ru-RU" sz="2400" dirty="0">
                <a:latin typeface="Inter" panose="020B0604020202020204" charset="0"/>
                <a:ea typeface="Inter" panose="020B0604020202020204" charset="0"/>
                <a:cs typeface="Times New Roman" panose="02020603050405020304" pitchFamily="18" charset="0"/>
              </a:rPr>
              <a:t> </a:t>
            </a:r>
            <a:r>
              <a:rPr lang="en-US" sz="2400" dirty="0">
                <a:latin typeface="Inter" panose="020B0604020202020204" charset="0"/>
                <a:ea typeface="Inter" panose="020B0604020202020204" charset="0"/>
                <a:cs typeface="Times New Roman" panose="02020603050405020304" pitchFamily="18" charset="0"/>
              </a:rPr>
              <a:t>https://github.com/Ratarion/stirka_site</a:t>
            </a:r>
            <a:endParaRPr lang="ru-RU" sz="2400" dirty="0">
              <a:latin typeface="Inter" panose="020B0604020202020204" charset="0"/>
              <a:ea typeface="Inter" panose="020B060402020202020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3649790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628</TotalTime>
  <Words>343</Words>
  <Application>Microsoft Office PowerPoint</Application>
  <PresentationFormat>Произвольный</PresentationFormat>
  <Paragraphs>84</Paragraphs>
  <Slides>13</Slides>
  <Notes>13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3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13</vt:i4>
      </vt:variant>
    </vt:vector>
  </HeadingPairs>
  <TitlesOfParts>
    <vt:vector size="17" baseType="lpstr">
      <vt:lpstr>Inter</vt:lpstr>
      <vt:lpstr>Roboto</vt:lpstr>
      <vt:lpstr>Arial</vt:lpstr>
      <vt:lpstr>Office Theme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 PowerPoint</dc:title>
  <dc:subject/>
  <dc:creator/>
  <cp:lastModifiedBy>Стас Якушев</cp:lastModifiedBy>
  <cp:revision>53</cp:revision>
  <dcterms:created xsi:type="dcterms:W3CDTF">2025-12-01T13:06:18Z</dcterms:created>
  <dcterms:modified xsi:type="dcterms:W3CDTF">2026-04-04T06:21:02Z</dcterms:modified>
</cp:coreProperties>
</file>