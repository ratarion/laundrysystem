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86" r:id="rId4"/>
    <p:sldId id="280" r:id="rId5"/>
    <p:sldId id="283" r:id="rId6"/>
    <p:sldId id="284" r:id="rId7"/>
    <p:sldId id="285" r:id="rId8"/>
    <p:sldId id="281" r:id="rId9"/>
    <p:sldId id="288" r:id="rId10"/>
    <p:sldId id="289" r:id="rId11"/>
    <p:sldId id="287" r:id="rId12"/>
    <p:sldId id="260" r:id="rId13"/>
    <p:sldId id="275" r:id="rId14"/>
  </p:sldIdLst>
  <p:sldSz cx="14630400" cy="8229600"/>
  <p:notesSz cx="8229600" cy="14630400"/>
  <p:embeddedFontLst>
    <p:embeddedFont>
      <p:font typeface="Inter" panose="020B0604020202020204" charset="0"/>
      <p:regular r:id="rId16"/>
    </p:embeddedFont>
    <p:embeddedFont>
      <p:font typeface="Roboto" panose="02000000000000000000" pitchFamily="2" charset="0"/>
      <p:regular r:id="rId17"/>
      <p:bold r:id="rId18"/>
      <p:boldItalic r:id="rId1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5CA42B75-FCC7-4ED4-8ED1-4D3B1B0434ED}">
          <p14:sldIdLst>
            <p14:sldId id="256"/>
            <p14:sldId id="257"/>
            <p14:sldId id="286"/>
          </p14:sldIdLst>
        </p14:section>
        <p14:section name="Продолжение" id="{4AC4F3C8-C391-4853-B9B3-B2E4EA95B721}">
          <p14:sldIdLst>
            <p14:sldId id="280"/>
            <p14:sldId id="283"/>
            <p14:sldId id="284"/>
            <p14:sldId id="285"/>
            <p14:sldId id="281"/>
            <p14:sldId id="288"/>
            <p14:sldId id="289"/>
            <p14:sldId id="287"/>
            <p14:sldId id="260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7B122B-79F7-5756-D65A-822D8E86CB8E}" name="Стас Якушев" initials="СЯ" userId="1acfbfbb27ec4572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C2AB"/>
    <a:srgbClr val="FF7047"/>
    <a:srgbClr val="FCBEAF"/>
    <a:srgbClr val="FF9576"/>
    <a:srgbClr val="60DF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26" autoAdjust="0"/>
    <p:restoredTop sz="94474" autoAdjust="0"/>
  </p:normalViewPr>
  <p:slideViewPr>
    <p:cSldViewPr snapToGrid="0" snapToObjects="1">
      <p:cViewPr varScale="1">
        <p:scale>
          <a:sx n="60" d="100"/>
          <a:sy n="60" d="100"/>
        </p:scale>
        <p:origin x="708" y="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>
        <p:scale>
          <a:sx n="66" d="100"/>
          <a:sy n="66" d="100"/>
        </p:scale>
        <p:origin x="2346" y="-94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878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84A5B-8708-8FF8-FA9E-64216810D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10360-D72B-9B66-0B69-97A93F175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1D4D6-D931-DF6D-1571-1B2267CB0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86463-C7CC-40B3-2075-6FF076C5B2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1325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84A5B-8708-8FF8-FA9E-64216810D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10360-D72B-9B66-0B69-97A93F175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1D4D6-D931-DF6D-1571-1B2267CB0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86463-C7CC-40B3-2075-6FF076C5B2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96421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84A5B-8708-8FF8-FA9E-64216810D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10360-D72B-9B66-0B69-97A93F175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1D4D6-D931-DF6D-1571-1B2267CB0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86463-C7CC-40B3-2075-6FF076C5B2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550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84A5B-8708-8FF8-FA9E-64216810D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10360-D72B-9B66-0B69-97A93F175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1D4D6-D931-DF6D-1571-1B2267CB0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86463-C7CC-40B3-2075-6FF076C5B2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75312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84A5B-8708-8FF8-FA9E-64216810D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10360-D72B-9B66-0B69-97A93F175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1D4D6-D931-DF6D-1571-1B2267CB0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86463-C7CC-40B3-2075-6FF076C5B2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26833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84A5B-8708-8FF8-FA9E-64216810D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10360-D72B-9B66-0B69-97A93F175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1D4D6-D931-DF6D-1571-1B2267CB0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86463-C7CC-40B3-2075-6FF076C5B2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181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F013D-086F-11BF-0396-32C6FCB38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FD2F67-EDA1-3C0E-830B-C714C2E67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760661-B7EB-8E9A-DD60-7220E0E78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62C86-3DCB-2A15-B3BA-0CB2A41616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4964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51C92-F117-9B66-4049-2CE68E577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6E04D5-6089-B0B4-A480-3E9D2565C3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D9DEFB-11E8-1344-4B43-88E7693033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F718D-F250-5959-21C1-D76151E44E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355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D4F59-624B-3AB1-C9E9-51DBB4DF2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AAE7E-FA90-DC0B-40B9-12850D1A1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DB6D9F-6CE0-2C98-DFC9-B4D65CC84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D6C208-0B2A-BF30-4B50-3CDD8931D2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5833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C4C3E-3A94-431C-0055-CAE819683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903C68-BA27-6E21-A6CA-D1385CF9DD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14C69-79A3-A3A7-0CAF-17486B0E6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7FBDC-7818-CB69-26EF-D9C1860831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3965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  <p:txBody>
          <a:bodyPr/>
          <a:lstStyle/>
          <a:p>
            <a:endParaRPr lang="ru-RU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  <p:txBody>
          <a:bodyPr/>
          <a:lstStyle/>
          <a:p>
            <a:endParaRPr lang="ru-RU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  <p:txBody>
          <a:bodyPr/>
          <a:lstStyle/>
          <a:p>
            <a:endParaRPr lang="ru-RU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  <p:txBody>
          <a:bodyPr/>
          <a:lstStyle/>
          <a:p>
            <a:endParaRPr lang="ru-RU" dirty="0"/>
          </a:p>
        </p:txBody>
      </p:sp>
      <p:sp>
        <p:nvSpPr>
          <p:cNvPr id="3" name="Shape 1"/>
          <p:cNvSpPr/>
          <p:nvPr userDrawn="1"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  <p:txBody>
          <a:bodyPr/>
          <a:lstStyle/>
          <a:p>
            <a:endParaRPr lang="ru-RU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  <p:txBody>
          <a:bodyPr/>
          <a:lstStyle/>
          <a:p>
            <a:endParaRPr lang="ru-RU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  <p:txBody>
          <a:bodyPr/>
          <a:lstStyle/>
          <a:p>
            <a:endParaRPr lang="ru-RU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  <p:txBody>
          <a:bodyPr/>
          <a:lstStyle/>
          <a:p>
            <a:endParaRPr lang="ru-RU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  <p:txBody>
          <a:bodyPr/>
          <a:lstStyle/>
          <a:p>
            <a:endParaRPr lang="ru-RU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  <p:txBody>
          <a:bodyPr/>
          <a:lstStyle/>
          <a:p>
            <a:endParaRPr lang="ru-RU" dirty="0"/>
          </a:p>
        </p:txBody>
      </p:sp>
      <p:sp>
        <p:nvSpPr>
          <p:cNvPr id="3" name="Shape 1"/>
          <p:cNvSpPr/>
          <p:nvPr userDrawn="1"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14484" y="569476"/>
            <a:ext cx="7420570" cy="4002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850"/>
              </a:lnSpc>
            </a:pPr>
            <a:r>
              <a:rPr lang="ru-RU" sz="39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Сайт для администрирования </a:t>
            </a:r>
            <a:r>
              <a:rPr lang="en-US" sz="39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Telegram</a:t>
            </a:r>
            <a:r>
              <a:rPr lang="ru-RU" sz="39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-бота для записи на стирку</a:t>
            </a:r>
          </a:p>
        </p:txBody>
      </p:sp>
      <p:sp>
        <p:nvSpPr>
          <p:cNvPr id="4" name="Text 1"/>
          <p:cNvSpPr/>
          <p:nvPr/>
        </p:nvSpPr>
        <p:spPr>
          <a:xfrm>
            <a:off x="1114485" y="5290979"/>
            <a:ext cx="7163242" cy="1205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2400" b="1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Авторы работы: Студенты КузГТУ</a:t>
            </a:r>
          </a:p>
          <a:p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Якушев С.А., студент гр. ПИб-242, </a:t>
            </a:r>
            <a:r>
              <a:rPr lang="en-US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II</a:t>
            </a:r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 курс</a:t>
            </a:r>
          </a:p>
          <a:p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Сахаров В.В</a:t>
            </a:r>
            <a:r>
              <a:rPr lang="en-US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., </a:t>
            </a:r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студент гр. ПИб-242, </a:t>
            </a:r>
            <a:r>
              <a:rPr lang="en-US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II</a:t>
            </a:r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 курс</a:t>
            </a:r>
          </a:p>
          <a:p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Ильин П.Е</a:t>
            </a:r>
            <a:r>
              <a:rPr lang="en-US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., </a:t>
            </a:r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студент гр. ПИб-242, </a:t>
            </a:r>
            <a:r>
              <a:rPr lang="en-US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II</a:t>
            </a:r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 курс</a:t>
            </a:r>
          </a:p>
          <a:p>
            <a:endParaRPr lang="ru-RU" sz="2400" dirty="0">
              <a:latin typeface="Inter" panose="020B0604020202020204" charset="0"/>
              <a:ea typeface="Inter" panose="020B0604020202020204" charset="0"/>
              <a:cs typeface="Times New Roman" panose="02020603050405020304" pitchFamily="18" charset="0"/>
            </a:endParaRPr>
          </a:p>
          <a:p>
            <a:r>
              <a:rPr lang="ru-RU" sz="2400" b="1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Ссылка на репозиторий:</a:t>
            </a:r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https://github.com/Ratarion/stirka_site</a:t>
            </a:r>
            <a:endParaRPr lang="ru-RU" sz="2400" dirty="0">
              <a:latin typeface="Inter" panose="020B0604020202020204" charset="0"/>
              <a:ea typeface="Inter" panose="020B0604020202020204" charset="0"/>
              <a:cs typeface="Times New Roman" panose="02020603050405020304" pitchFamily="18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37C85DB-AC5C-5EAD-098D-2BE56428BF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40100" y1="37037" x2="40200" y2="47795"/>
                        <a14:foregroundMark x1="40200" y1="47795" x2="55300" y2="65432"/>
                        <a14:foregroundMark x1="55300" y1="65432" x2="57700" y2="41623"/>
                        <a14:foregroundMark x1="57700" y1="41623" x2="48800" y2="34744"/>
                        <a14:foregroundMark x1="48800" y1="34744" x2="47400" y2="35626"/>
                        <a14:foregroundMark x1="46300" y1="32804" x2="47200" y2="43915"/>
                        <a14:foregroundMark x1="47200" y1="43915" x2="42800" y2="36861"/>
                        <a14:foregroundMark x1="42800" y1="36861" x2="37700" y2="39330"/>
                        <a14:foregroundMark x1="44000" y1="35097" x2="51200" y2="40035"/>
                        <a14:foregroundMark x1="51200" y1="40035" x2="47800" y2="37037"/>
                        <a14:foregroundMark x1="46300" y1="41623" x2="47800" y2="39506"/>
                        <a14:foregroundMark x1="40400" y1="38624" x2="45100" y2="46737"/>
                        <a14:foregroundMark x1="45100" y1="46737" x2="50700" y2="43210"/>
                        <a14:foregroundMark x1="50700" y1="43210" x2="51100" y2="40212"/>
                        <a14:foregroundMark x1="39400" y1="40564" x2="44500" y2="46737"/>
                        <a14:foregroundMark x1="44500" y1="46737" x2="54100" y2="51675"/>
                        <a14:foregroundMark x1="54100" y1="51675" x2="52900" y2="46737"/>
                        <a14:foregroundMark x1="48300" y1="44092" x2="47700" y2="44092"/>
                        <a14:foregroundMark x1="42800" y1="40741" x2="51500" y2="42504"/>
                        <a14:foregroundMark x1="51500" y1="42504" x2="42500" y2="36508"/>
                        <a14:foregroundMark x1="42500" y1="36508" x2="46800" y2="41799"/>
                        <a14:foregroundMark x1="46800" y1="41799" x2="50800" y2="40212"/>
                        <a14:foregroundMark x1="51100" y1="40212" x2="49200" y2="45326"/>
                        <a14:foregroundMark x1="49400" y1="44974" x2="50500" y2="46737"/>
                        <a14:foregroundMark x1="49700" y1="45326" x2="49100" y2="49735"/>
                        <a14:foregroundMark x1="50700" y1="46737" x2="50400" y2="52028"/>
                        <a14:foregroundMark x1="51600" y1="43210" x2="51400" y2="47443"/>
                        <a14:foregroundMark x1="51900" y1="45855" x2="49200" y2="48325"/>
                        <a14:foregroundMark x1="47800" y1="46208" x2="47800" y2="46208"/>
                        <a14:foregroundMark x1="47300" y1="40035" x2="49600" y2="48677"/>
                        <a14:foregroundMark x1="49600" y1="48677" x2="52400" y2="44974"/>
                        <a14:foregroundMark x1="51500" y1="40035" x2="50700" y2="4321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9383" y="0"/>
            <a:ext cx="2539252" cy="14397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748695"/>
            <a:ext cx="14630400" cy="2480905"/>
          </a:xfrm>
          <a:prstGeom prst="rect">
            <a:avLst/>
          </a:prstGeom>
        </p:spPr>
      </p:pic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48090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71424" y="2576678"/>
            <a:ext cx="6887552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 anchorCtr="0"/>
          <a:lstStyle/>
          <a:p>
            <a:pPr marL="0" indent="0" algn="ctr">
              <a:lnSpc>
                <a:spcPts val="4850"/>
              </a:lnSpc>
              <a:buNone/>
            </a:pPr>
            <a:r>
              <a:rPr lang="en-US" sz="3900" b="1" dirty="0">
                <a:latin typeface="Inter" panose="020B0604020202020204" charset="0"/>
                <a:ea typeface="Inter" panose="020B0604020202020204" charset="0"/>
                <a:cs typeface="Inter" pitchFamily="34" charset="-120"/>
              </a:rPr>
              <a:t>Цель</a:t>
            </a:r>
            <a:endParaRPr lang="en-US" sz="3900" b="1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38A08353-4EE1-267D-2F9B-3531997A012A}"/>
              </a:ext>
            </a:extLst>
          </p:cNvPr>
          <p:cNvSpPr/>
          <p:nvPr/>
        </p:nvSpPr>
        <p:spPr>
          <a:xfrm>
            <a:off x="14230350" y="7928040"/>
            <a:ext cx="400050" cy="30155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2</a:t>
            </a:r>
            <a:endParaRPr lang="ru-RU" sz="1400" dirty="0">
              <a:latin typeface="Inter" panose="020B0604020202020204" charset="0"/>
              <a:ea typeface="Inter" panose="020B0604020202020204" charset="0"/>
              <a:cs typeface="Times New Roman" panose="02020603050405020304" pitchFamily="18" charset="0"/>
            </a:endParaRPr>
          </a:p>
        </p:txBody>
      </p: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3BC10FB4-E2A8-D36C-FB8F-5FAD9121FA22}"/>
              </a:ext>
            </a:extLst>
          </p:cNvPr>
          <p:cNvGrpSpPr/>
          <p:nvPr/>
        </p:nvGrpSpPr>
        <p:grpSpPr>
          <a:xfrm>
            <a:off x="521645" y="3375800"/>
            <a:ext cx="13644532" cy="2788041"/>
            <a:chOff x="745701" y="4925263"/>
            <a:chExt cx="6249104" cy="1756303"/>
          </a:xfrm>
        </p:grpSpPr>
        <p:grpSp>
          <p:nvGrpSpPr>
            <p:cNvPr id="33" name="Группа 32">
              <a:extLst>
                <a:ext uri="{FF2B5EF4-FFF2-40B4-BE49-F238E27FC236}">
                  <a16:creationId xmlns:a16="http://schemas.microsoft.com/office/drawing/2014/main" id="{F49FAE1A-A657-82E2-6F6F-14F9584D1718}"/>
                </a:ext>
              </a:extLst>
            </p:cNvPr>
            <p:cNvGrpSpPr/>
            <p:nvPr/>
          </p:nvGrpSpPr>
          <p:grpSpPr>
            <a:xfrm>
              <a:off x="745701" y="4925263"/>
              <a:ext cx="6249104" cy="1189197"/>
              <a:chOff x="745701" y="4925263"/>
              <a:chExt cx="6249104" cy="1189197"/>
            </a:xfrm>
          </p:grpSpPr>
          <p:grpSp>
            <p:nvGrpSpPr>
              <p:cNvPr id="36" name="Группа 35">
                <a:extLst>
                  <a:ext uri="{FF2B5EF4-FFF2-40B4-BE49-F238E27FC236}">
                    <a16:creationId xmlns:a16="http://schemas.microsoft.com/office/drawing/2014/main" id="{F3677761-8BD6-CBFC-2D26-259A3F82888B}"/>
                  </a:ext>
                </a:extLst>
              </p:cNvPr>
              <p:cNvGrpSpPr/>
              <p:nvPr/>
            </p:nvGrpSpPr>
            <p:grpSpPr>
              <a:xfrm>
                <a:off x="745701" y="4925263"/>
                <a:ext cx="6249104" cy="1189197"/>
                <a:chOff x="770930" y="4944189"/>
                <a:chExt cx="7014061" cy="1189197"/>
              </a:xfrm>
            </p:grpSpPr>
            <p:sp>
              <p:nvSpPr>
                <p:cNvPr id="38" name="Shape 2"/>
                <p:cNvSpPr/>
                <p:nvPr/>
              </p:nvSpPr>
              <p:spPr>
                <a:xfrm>
                  <a:off x="793791" y="4944189"/>
                  <a:ext cx="6991200" cy="1189197"/>
                </a:xfrm>
                <a:prstGeom prst="roundRect">
                  <a:avLst>
                    <a:gd name="adj" fmla="val 4223"/>
                  </a:avLst>
                </a:prstGeom>
                <a:solidFill>
                  <a:srgbClr val="FFFFFF"/>
                </a:solidFill>
                <a:ln w="22860">
                  <a:solidFill>
                    <a:srgbClr val="FF7047"/>
                  </a:solidFill>
                  <a:prstDash val="solid"/>
                </a:ln>
              </p:spPr>
              <p:txBody>
                <a:bodyPr/>
                <a:lstStyle/>
                <a:p>
                  <a:endParaRPr lang="ru-RU" dirty="0">
                    <a:latin typeface="Inter" panose="020B0604020202020204" charset="0"/>
                    <a:ea typeface="Inter" panose="020B0604020202020204" charset="0"/>
                  </a:endParaRPr>
                </a:p>
              </p:txBody>
            </p:sp>
            <p:sp>
              <p:nvSpPr>
                <p:cNvPr id="39" name="Shape 3"/>
                <p:cNvSpPr/>
                <p:nvPr/>
              </p:nvSpPr>
              <p:spPr>
                <a:xfrm>
                  <a:off x="770930" y="4944189"/>
                  <a:ext cx="88166" cy="1189197"/>
                </a:xfrm>
                <a:prstGeom prst="roundRect">
                  <a:avLst>
                    <a:gd name="adj" fmla="val 195349"/>
                  </a:avLst>
                </a:prstGeom>
                <a:solidFill>
                  <a:srgbClr val="FF7047"/>
                </a:solidFill>
                <a:ln/>
              </p:spPr>
              <p:txBody>
                <a:bodyPr/>
                <a:lstStyle/>
                <a:p>
                  <a:endParaRPr lang="ru-RU" dirty="0">
                    <a:latin typeface="Inter" panose="020B0604020202020204" charset="0"/>
                    <a:ea typeface="Inter" panose="020B0604020202020204" charset="0"/>
                  </a:endParaRPr>
                </a:p>
              </p:txBody>
            </p:sp>
          </p:grpSp>
          <p:sp>
            <p:nvSpPr>
              <p:cNvPr id="37" name="Text 4"/>
              <p:cNvSpPr/>
              <p:nvPr/>
            </p:nvSpPr>
            <p:spPr>
              <a:xfrm>
                <a:off x="904420" y="5062042"/>
                <a:ext cx="1694201" cy="310158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ctr">
                  <a:lnSpc>
                    <a:spcPts val="2400"/>
                  </a:lnSpc>
                  <a:buNone/>
                </a:pPr>
                <a:r>
                  <a:rPr lang="ru-RU" sz="2000" b="1" dirty="0">
                    <a:latin typeface="Inter" panose="020B0604020202020204" charset="0"/>
                    <a:ea typeface="Inter" panose="020B0604020202020204" charset="0"/>
                  </a:rPr>
                  <a:t>Основная цель приложения:</a:t>
                </a:r>
                <a:endParaRPr lang="en-US" sz="2000" b="1" dirty="0">
                  <a:latin typeface="Inter" panose="020B0604020202020204" charset="0"/>
                  <a:ea typeface="Inter" panose="020B0604020202020204" charset="0"/>
                </a:endParaRPr>
              </a:p>
            </p:txBody>
          </p:sp>
        </p:grpSp>
        <p:sp>
          <p:nvSpPr>
            <p:cNvPr id="34" name="Text 5"/>
            <p:cNvSpPr/>
            <p:nvPr/>
          </p:nvSpPr>
          <p:spPr>
            <a:xfrm>
              <a:off x="1083588" y="6114460"/>
              <a:ext cx="5911215" cy="31754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342900" indent="-342900" algn="l">
                <a:lnSpc>
                  <a:spcPts val="2500"/>
                </a:lnSpc>
                <a:buSzPct val="100000"/>
                <a:buChar char="•"/>
              </a:pPr>
              <a:endParaRPr lang="en-US" dirty="0">
                <a:latin typeface="Inter" panose="020B0604020202020204" charset="0"/>
                <a:ea typeface="Inter" panose="020B0604020202020204" charset="0"/>
              </a:endParaRPr>
            </a:p>
          </p:txBody>
        </p:sp>
        <p:sp>
          <p:nvSpPr>
            <p:cNvPr id="35" name="Text 6"/>
            <p:cNvSpPr/>
            <p:nvPr/>
          </p:nvSpPr>
          <p:spPr>
            <a:xfrm>
              <a:off x="905720" y="5449471"/>
              <a:ext cx="5930829" cy="123209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500"/>
                </a:lnSpc>
                <a:buSzPct val="100000"/>
              </a:pPr>
              <a:endParaRPr lang="ru-RU" dirty="0">
                <a:latin typeface="Inter" panose="020B0604020202020204" charset="0"/>
                <a:ea typeface="Inter" panose="020B0604020202020204" charset="0"/>
              </a:endParaRPr>
            </a:p>
          </p:txBody>
        </p:sp>
      </p:grpSp>
      <p:sp>
        <p:nvSpPr>
          <p:cNvPr id="4" name="Прямоугольник 3"/>
          <p:cNvSpPr/>
          <p:nvPr/>
        </p:nvSpPr>
        <p:spPr>
          <a:xfrm>
            <a:off x="868197" y="4010753"/>
            <a:ext cx="13088429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dirty="0"/>
              <a:t>создать удобную панель мониторинга в реальном времени, где администраторы и технические специалисты могут централизованно управлять всеми бронированиями, отслеживать состояние стиральных машин, получать мгновенные уведомления о поломках и формировать аналитику.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C9F58-D156-7E12-D833-44EE3C3F0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60C5CF9-D3B1-D66C-0554-C4A59D4B6F00}"/>
              </a:ext>
            </a:extLst>
          </p:cNvPr>
          <p:cNvSpPr/>
          <p:nvPr/>
        </p:nvSpPr>
        <p:spPr>
          <a:xfrm>
            <a:off x="0" y="326972"/>
            <a:ext cx="14630400" cy="5023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50"/>
              </a:lnSpc>
              <a:buNone/>
            </a:pPr>
            <a:r>
              <a:rPr lang="ru-RU" sz="2700" dirty="0">
                <a:latin typeface="Inter" panose="020B0604020202020204" charset="0"/>
                <a:ea typeface="Inter" panose="020B0604020202020204" charset="0"/>
              </a:rPr>
              <a:t>Структура файлов проекта</a:t>
            </a:r>
            <a:endParaRPr lang="en-US" sz="270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90" name="Прямоугольный треугольник 89">
            <a:extLst>
              <a:ext uri="{FF2B5EF4-FFF2-40B4-BE49-F238E27FC236}">
                <a16:creationId xmlns:a16="http://schemas.microsoft.com/office/drawing/2014/main" id="{3FD9698B-660F-0AF8-A3C6-D328F6111351}"/>
              </a:ext>
            </a:extLst>
          </p:cNvPr>
          <p:cNvSpPr/>
          <p:nvPr/>
        </p:nvSpPr>
        <p:spPr>
          <a:xfrm rot="10800000">
            <a:off x="13550400" y="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1" name="Прямоугольный треугольник 90">
            <a:extLst>
              <a:ext uri="{FF2B5EF4-FFF2-40B4-BE49-F238E27FC236}">
                <a16:creationId xmlns:a16="http://schemas.microsoft.com/office/drawing/2014/main" id="{B2CCDF26-E460-6F82-0EF6-AEFF868576BF}"/>
              </a:ext>
            </a:extLst>
          </p:cNvPr>
          <p:cNvSpPr/>
          <p:nvPr/>
        </p:nvSpPr>
        <p:spPr>
          <a:xfrm rot="5400000">
            <a:off x="0" y="-21371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2" name="Прямоугольный треугольник 91">
            <a:extLst>
              <a:ext uri="{FF2B5EF4-FFF2-40B4-BE49-F238E27FC236}">
                <a16:creationId xmlns:a16="http://schemas.microsoft.com/office/drawing/2014/main" id="{296C1DCF-1FB2-8BF8-6AC2-796BE4203D5F}"/>
              </a:ext>
            </a:extLst>
          </p:cNvPr>
          <p:cNvSpPr/>
          <p:nvPr/>
        </p:nvSpPr>
        <p:spPr>
          <a:xfrm>
            <a:off x="0" y="714960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3" name="Прямоугольный треугольник 92">
            <a:extLst>
              <a:ext uri="{FF2B5EF4-FFF2-40B4-BE49-F238E27FC236}">
                <a16:creationId xmlns:a16="http://schemas.microsoft.com/office/drawing/2014/main" id="{E55D88B4-C60E-2428-8A23-76ECC130990C}"/>
              </a:ext>
            </a:extLst>
          </p:cNvPr>
          <p:cNvSpPr/>
          <p:nvPr/>
        </p:nvSpPr>
        <p:spPr>
          <a:xfrm rot="16200000">
            <a:off x="13550400" y="715361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9015874-6E59-2B51-839E-0B178478CBD3}"/>
              </a:ext>
            </a:extLst>
          </p:cNvPr>
          <p:cNvSpPr/>
          <p:nvPr/>
        </p:nvSpPr>
        <p:spPr>
          <a:xfrm>
            <a:off x="14230350" y="7928040"/>
            <a:ext cx="400050" cy="301559"/>
          </a:xfrm>
          <a:prstGeom prst="roundRect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7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262298"/>
              </p:ext>
            </p:extLst>
          </p:nvPr>
        </p:nvGraphicFramePr>
        <p:xfrm>
          <a:off x="2407861" y="1021694"/>
          <a:ext cx="9814677" cy="6327658"/>
        </p:xfrm>
        <a:graphic>
          <a:graphicData uri="http://schemas.openxmlformats.org/drawingml/2006/table">
            <a:tbl>
              <a:tblPr/>
              <a:tblGrid>
                <a:gridCol w="496945">
                  <a:extLst>
                    <a:ext uri="{9D8B030D-6E8A-4147-A177-3AD203B41FA5}">
                      <a16:colId xmlns:a16="http://schemas.microsoft.com/office/drawing/2014/main" val="2980403619"/>
                    </a:ext>
                  </a:extLst>
                </a:gridCol>
                <a:gridCol w="2671082">
                  <a:extLst>
                    <a:ext uri="{9D8B030D-6E8A-4147-A177-3AD203B41FA5}">
                      <a16:colId xmlns:a16="http://schemas.microsoft.com/office/drawing/2014/main" val="169570381"/>
                    </a:ext>
                  </a:extLst>
                </a:gridCol>
                <a:gridCol w="6646650">
                  <a:extLst>
                    <a:ext uri="{9D8B030D-6E8A-4147-A177-3AD203B41FA5}">
                      <a16:colId xmlns:a16="http://schemas.microsoft.com/office/drawing/2014/main" val="2618257148"/>
                    </a:ext>
                  </a:extLst>
                </a:gridCol>
              </a:tblGrid>
              <a:tr h="43716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800" b="1">
                          <a:solidFill>
                            <a:srgbClr val="0F1115"/>
                          </a:solidFill>
                          <a:effectLst/>
                          <a:latin typeface="Roboto"/>
                          <a:ea typeface="Nova Mono"/>
                          <a:cs typeface="Nova Mono"/>
                        </a:rPr>
                        <a:t>№</a:t>
                      </a:r>
                      <a:endParaRPr lang="ru-RU" sz="180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Название файла</a:t>
                      </a:r>
                      <a:endParaRPr lang="ru-RU" sz="1800" dirty="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Назначение</a:t>
                      </a:r>
                      <a:endParaRPr lang="ru-RU" sz="1800" dirty="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899661"/>
                  </a:ext>
                </a:extLst>
              </a:tr>
              <a:tr h="98174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1</a:t>
                      </a:r>
                      <a:endParaRPr lang="ru-RU" sz="1800" dirty="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800" kern="1200" dirty="0">
                          <a:solidFill>
                            <a:schemeClr val="tx1"/>
                          </a:solidFill>
                          <a:effectLst/>
                          <a:latin typeface="Roboto" panose="020B0604020202020204" charset="0"/>
                          <a:ea typeface="Roboto" panose="020B0604020202020204" charset="0"/>
                          <a:cs typeface="Roboto" panose="020B0604020202020204" charset="0"/>
                        </a:rPr>
                        <a:t>composer.json composer.lock</a:t>
                      </a:r>
                      <a:endParaRPr lang="ru-RU" sz="1800" dirty="0">
                        <a:effectLst/>
                        <a:latin typeface="Roboto" panose="020B0604020202020204" charset="0"/>
                        <a:ea typeface="Roboto" panose="020B0604020202020204" charset="0"/>
                        <a:cs typeface="Roboto" panose="020B060402020202020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Управление зависимостями.</a:t>
                      </a:r>
                      <a:endParaRPr lang="ru-RU" sz="1800" dirty="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3086769"/>
                  </a:ext>
                </a:extLst>
              </a:tr>
              <a:tr h="98174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80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2</a:t>
                      </a:r>
                      <a:endParaRPr lang="ru-RU" sz="180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do_connect.php </a:t>
                      </a:r>
                      <a:endParaRPr lang="ru-RU" sz="1800" dirty="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Точка безопасного подключения к базе Supabase.</a:t>
                      </a:r>
                      <a:endParaRPr lang="ru-RU" sz="1800" dirty="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4135994"/>
                  </a:ext>
                </a:extLst>
              </a:tr>
              <a:tr h="98174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80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3</a:t>
                      </a:r>
                      <a:endParaRPr lang="ru-RU" sz="180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stats.php </a:t>
                      </a:r>
                      <a:endParaRPr lang="ru-RU" sz="1800" dirty="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Вывод статистики и графиков.</a:t>
                      </a:r>
                      <a:endParaRPr lang="ru-RU" sz="1800" dirty="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1049985"/>
                  </a:ext>
                </a:extLst>
              </a:tr>
              <a:tr h="98174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4</a:t>
                      </a:r>
                      <a:endParaRPr lang="ru-RU" sz="180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machines.php</a:t>
                      </a:r>
                      <a:endParaRPr lang="ru-RU" sz="1800" dirty="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Управление</a:t>
                      </a:r>
                      <a:r>
                        <a:rPr lang="ru-RU" sz="1800" baseline="0" dirty="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 техникой.</a:t>
                      </a:r>
                      <a:endParaRPr lang="ru-RU" sz="1800" dirty="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7145890"/>
                  </a:ext>
                </a:extLst>
              </a:tr>
              <a:tr h="98174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5</a:t>
                      </a:r>
                      <a:endParaRPr lang="ru-RU" sz="180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booking.php</a:t>
                      </a:r>
                      <a:endParaRPr lang="ru-RU" sz="1800" dirty="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Содержит таблицу бронирований с фильтрами и отменами.</a:t>
                      </a:r>
                      <a:endParaRPr lang="ru-RU" sz="1800" dirty="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9942030"/>
                  </a:ext>
                </a:extLst>
              </a:tr>
              <a:tr h="98174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6.</a:t>
                      </a:r>
                      <a:endParaRPr lang="ru-RU" sz="180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notifications.php</a:t>
                      </a:r>
                      <a:endParaRPr lang="ru-RU" sz="1800" dirty="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solidFill>
                            <a:srgbClr val="0F1115"/>
                          </a:solidFill>
                          <a:effectLst/>
                          <a:latin typeface="Roboto"/>
                          <a:ea typeface="Roboto"/>
                          <a:cs typeface="Roboto"/>
                        </a:rPr>
                        <a:t>Работает с уведомлениями о поломках. </a:t>
                      </a:r>
                      <a:endParaRPr lang="ru-RU" sz="1800" dirty="0">
                        <a:effectLst/>
                        <a:latin typeface="Roboto"/>
                        <a:ea typeface="Arial" panose="020B0604020202020204" pitchFamily="34" charset="0"/>
                      </a:endParaRPr>
                    </a:p>
                  </a:txBody>
                  <a:tcPr marL="28756" marR="28756" marT="28756" marB="2875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45761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11360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C9F58-D156-7E12-D833-44EE3C3F0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60C5CF9-D3B1-D66C-0554-C4A59D4B6F00}"/>
              </a:ext>
            </a:extLst>
          </p:cNvPr>
          <p:cNvSpPr/>
          <p:nvPr/>
        </p:nvSpPr>
        <p:spPr>
          <a:xfrm>
            <a:off x="0" y="326972"/>
            <a:ext cx="14630400" cy="5023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50"/>
              </a:lnSpc>
              <a:buNone/>
            </a:pPr>
            <a:r>
              <a:rPr lang="ru-RU" sz="2700" dirty="0">
                <a:latin typeface="Inter" panose="020B0604020202020204" charset="0"/>
                <a:ea typeface="Inter" panose="020B0604020202020204" charset="0"/>
              </a:rPr>
              <a:t>Веб-страница «Статистика»</a:t>
            </a:r>
            <a:endParaRPr lang="en-US" sz="270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90" name="Прямоугольный треугольник 89">
            <a:extLst>
              <a:ext uri="{FF2B5EF4-FFF2-40B4-BE49-F238E27FC236}">
                <a16:creationId xmlns:a16="http://schemas.microsoft.com/office/drawing/2014/main" id="{3FD9698B-660F-0AF8-A3C6-D328F6111351}"/>
              </a:ext>
            </a:extLst>
          </p:cNvPr>
          <p:cNvSpPr/>
          <p:nvPr/>
        </p:nvSpPr>
        <p:spPr>
          <a:xfrm rot="10800000">
            <a:off x="13550400" y="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1" name="Прямоугольный треугольник 90">
            <a:extLst>
              <a:ext uri="{FF2B5EF4-FFF2-40B4-BE49-F238E27FC236}">
                <a16:creationId xmlns:a16="http://schemas.microsoft.com/office/drawing/2014/main" id="{B2CCDF26-E460-6F82-0EF6-AEFF868576BF}"/>
              </a:ext>
            </a:extLst>
          </p:cNvPr>
          <p:cNvSpPr/>
          <p:nvPr/>
        </p:nvSpPr>
        <p:spPr>
          <a:xfrm rot="5400000">
            <a:off x="0" y="-21371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2" name="Прямоугольный треугольник 91">
            <a:extLst>
              <a:ext uri="{FF2B5EF4-FFF2-40B4-BE49-F238E27FC236}">
                <a16:creationId xmlns:a16="http://schemas.microsoft.com/office/drawing/2014/main" id="{296C1DCF-1FB2-8BF8-6AC2-796BE4203D5F}"/>
              </a:ext>
            </a:extLst>
          </p:cNvPr>
          <p:cNvSpPr/>
          <p:nvPr/>
        </p:nvSpPr>
        <p:spPr>
          <a:xfrm>
            <a:off x="0" y="714960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3" name="Прямоугольный треугольник 92">
            <a:extLst>
              <a:ext uri="{FF2B5EF4-FFF2-40B4-BE49-F238E27FC236}">
                <a16:creationId xmlns:a16="http://schemas.microsoft.com/office/drawing/2014/main" id="{E55D88B4-C60E-2428-8A23-76ECC130990C}"/>
              </a:ext>
            </a:extLst>
          </p:cNvPr>
          <p:cNvSpPr/>
          <p:nvPr/>
        </p:nvSpPr>
        <p:spPr>
          <a:xfrm rot="16200000">
            <a:off x="13550400" y="715361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9015874-6E59-2B51-839E-0B178478CBD3}"/>
              </a:ext>
            </a:extLst>
          </p:cNvPr>
          <p:cNvSpPr/>
          <p:nvPr/>
        </p:nvSpPr>
        <p:spPr>
          <a:xfrm>
            <a:off x="14230350" y="7928040"/>
            <a:ext cx="400050" cy="301559"/>
          </a:xfrm>
          <a:prstGeom prst="roundRect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9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579" y="1058629"/>
            <a:ext cx="13091243" cy="6579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7588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C9F58-D156-7E12-D833-44EE3C3F0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60C5CF9-D3B1-D66C-0554-C4A59D4B6F00}"/>
              </a:ext>
            </a:extLst>
          </p:cNvPr>
          <p:cNvSpPr/>
          <p:nvPr/>
        </p:nvSpPr>
        <p:spPr>
          <a:xfrm>
            <a:off x="0" y="326972"/>
            <a:ext cx="14630400" cy="5023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50"/>
              </a:lnSpc>
              <a:buNone/>
            </a:pPr>
            <a:r>
              <a:rPr lang="ru-RU" sz="2700" dirty="0">
                <a:latin typeface="Inter" panose="020B0604020202020204" charset="0"/>
                <a:ea typeface="Inter" panose="020B0604020202020204" charset="0"/>
              </a:rPr>
              <a:t>Веб-страница «Техника»</a:t>
            </a:r>
            <a:endParaRPr lang="en-US" sz="270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90" name="Прямоугольный треугольник 89">
            <a:extLst>
              <a:ext uri="{FF2B5EF4-FFF2-40B4-BE49-F238E27FC236}">
                <a16:creationId xmlns:a16="http://schemas.microsoft.com/office/drawing/2014/main" id="{3FD9698B-660F-0AF8-A3C6-D328F6111351}"/>
              </a:ext>
            </a:extLst>
          </p:cNvPr>
          <p:cNvSpPr/>
          <p:nvPr/>
        </p:nvSpPr>
        <p:spPr>
          <a:xfrm rot="10800000">
            <a:off x="13550400" y="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1" name="Прямоугольный треугольник 90">
            <a:extLst>
              <a:ext uri="{FF2B5EF4-FFF2-40B4-BE49-F238E27FC236}">
                <a16:creationId xmlns:a16="http://schemas.microsoft.com/office/drawing/2014/main" id="{B2CCDF26-E460-6F82-0EF6-AEFF868576BF}"/>
              </a:ext>
            </a:extLst>
          </p:cNvPr>
          <p:cNvSpPr/>
          <p:nvPr/>
        </p:nvSpPr>
        <p:spPr>
          <a:xfrm rot="5400000">
            <a:off x="0" y="-21371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2" name="Прямоугольный треугольник 91">
            <a:extLst>
              <a:ext uri="{FF2B5EF4-FFF2-40B4-BE49-F238E27FC236}">
                <a16:creationId xmlns:a16="http://schemas.microsoft.com/office/drawing/2014/main" id="{296C1DCF-1FB2-8BF8-6AC2-796BE4203D5F}"/>
              </a:ext>
            </a:extLst>
          </p:cNvPr>
          <p:cNvSpPr/>
          <p:nvPr/>
        </p:nvSpPr>
        <p:spPr>
          <a:xfrm>
            <a:off x="0" y="714960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3" name="Прямоугольный треугольник 92">
            <a:extLst>
              <a:ext uri="{FF2B5EF4-FFF2-40B4-BE49-F238E27FC236}">
                <a16:creationId xmlns:a16="http://schemas.microsoft.com/office/drawing/2014/main" id="{E55D88B4-C60E-2428-8A23-76ECC130990C}"/>
              </a:ext>
            </a:extLst>
          </p:cNvPr>
          <p:cNvSpPr/>
          <p:nvPr/>
        </p:nvSpPr>
        <p:spPr>
          <a:xfrm rot="16200000">
            <a:off x="13550400" y="715361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9015874-6E59-2B51-839E-0B178478CBD3}"/>
              </a:ext>
            </a:extLst>
          </p:cNvPr>
          <p:cNvSpPr/>
          <p:nvPr/>
        </p:nvSpPr>
        <p:spPr>
          <a:xfrm>
            <a:off x="14230350" y="7928040"/>
            <a:ext cx="400050" cy="301559"/>
          </a:xfrm>
          <a:prstGeom prst="roundRect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9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95" y="1058629"/>
            <a:ext cx="13021011" cy="6503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7298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C9F58-D156-7E12-D833-44EE3C3F0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60C5CF9-D3B1-D66C-0554-C4A59D4B6F00}"/>
              </a:ext>
            </a:extLst>
          </p:cNvPr>
          <p:cNvSpPr/>
          <p:nvPr/>
        </p:nvSpPr>
        <p:spPr>
          <a:xfrm>
            <a:off x="0" y="326972"/>
            <a:ext cx="14630400" cy="5023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50"/>
              </a:lnSpc>
              <a:buNone/>
            </a:pPr>
            <a:r>
              <a:rPr lang="ru-RU" sz="2700" dirty="0">
                <a:latin typeface="Inter" panose="020B0604020202020204" charset="0"/>
                <a:ea typeface="Inter" panose="020B0604020202020204" charset="0"/>
              </a:rPr>
              <a:t>Веб-страница «Бронирование»</a:t>
            </a:r>
            <a:endParaRPr lang="en-US" sz="270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90" name="Прямоугольный треугольник 89">
            <a:extLst>
              <a:ext uri="{FF2B5EF4-FFF2-40B4-BE49-F238E27FC236}">
                <a16:creationId xmlns:a16="http://schemas.microsoft.com/office/drawing/2014/main" id="{3FD9698B-660F-0AF8-A3C6-D328F6111351}"/>
              </a:ext>
            </a:extLst>
          </p:cNvPr>
          <p:cNvSpPr/>
          <p:nvPr/>
        </p:nvSpPr>
        <p:spPr>
          <a:xfrm rot="10800000">
            <a:off x="13550400" y="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1" name="Прямоугольный треугольник 90">
            <a:extLst>
              <a:ext uri="{FF2B5EF4-FFF2-40B4-BE49-F238E27FC236}">
                <a16:creationId xmlns:a16="http://schemas.microsoft.com/office/drawing/2014/main" id="{B2CCDF26-E460-6F82-0EF6-AEFF868576BF}"/>
              </a:ext>
            </a:extLst>
          </p:cNvPr>
          <p:cNvSpPr/>
          <p:nvPr/>
        </p:nvSpPr>
        <p:spPr>
          <a:xfrm rot="5400000">
            <a:off x="0" y="-21371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2" name="Прямоугольный треугольник 91">
            <a:extLst>
              <a:ext uri="{FF2B5EF4-FFF2-40B4-BE49-F238E27FC236}">
                <a16:creationId xmlns:a16="http://schemas.microsoft.com/office/drawing/2014/main" id="{296C1DCF-1FB2-8BF8-6AC2-796BE4203D5F}"/>
              </a:ext>
            </a:extLst>
          </p:cNvPr>
          <p:cNvSpPr/>
          <p:nvPr/>
        </p:nvSpPr>
        <p:spPr>
          <a:xfrm>
            <a:off x="0" y="714960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3" name="Прямоугольный треугольник 92">
            <a:extLst>
              <a:ext uri="{FF2B5EF4-FFF2-40B4-BE49-F238E27FC236}">
                <a16:creationId xmlns:a16="http://schemas.microsoft.com/office/drawing/2014/main" id="{E55D88B4-C60E-2428-8A23-76ECC130990C}"/>
              </a:ext>
            </a:extLst>
          </p:cNvPr>
          <p:cNvSpPr/>
          <p:nvPr/>
        </p:nvSpPr>
        <p:spPr>
          <a:xfrm rot="16200000">
            <a:off x="13550400" y="715361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9015874-6E59-2B51-839E-0B178478CBD3}"/>
              </a:ext>
            </a:extLst>
          </p:cNvPr>
          <p:cNvSpPr/>
          <p:nvPr/>
        </p:nvSpPr>
        <p:spPr>
          <a:xfrm>
            <a:off x="14230350" y="7928040"/>
            <a:ext cx="400050" cy="301559"/>
          </a:xfrm>
          <a:prstGeom prst="roundRect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9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210" y="1080000"/>
            <a:ext cx="12875980" cy="6431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946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C9F58-D156-7E12-D833-44EE3C3F0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60C5CF9-D3B1-D66C-0554-C4A59D4B6F00}"/>
              </a:ext>
            </a:extLst>
          </p:cNvPr>
          <p:cNvSpPr/>
          <p:nvPr/>
        </p:nvSpPr>
        <p:spPr>
          <a:xfrm>
            <a:off x="0" y="326972"/>
            <a:ext cx="14630400" cy="5023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50"/>
              </a:lnSpc>
              <a:buNone/>
            </a:pPr>
            <a:r>
              <a:rPr lang="ru-RU" sz="2700" dirty="0">
                <a:latin typeface="Inter" panose="020B0604020202020204" charset="0"/>
                <a:ea typeface="Inter" panose="020B0604020202020204" charset="0"/>
              </a:rPr>
              <a:t>Веб-страница «Уведомления»</a:t>
            </a:r>
            <a:endParaRPr lang="en-US" sz="270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90" name="Прямоугольный треугольник 89">
            <a:extLst>
              <a:ext uri="{FF2B5EF4-FFF2-40B4-BE49-F238E27FC236}">
                <a16:creationId xmlns:a16="http://schemas.microsoft.com/office/drawing/2014/main" id="{3FD9698B-660F-0AF8-A3C6-D328F6111351}"/>
              </a:ext>
            </a:extLst>
          </p:cNvPr>
          <p:cNvSpPr/>
          <p:nvPr/>
        </p:nvSpPr>
        <p:spPr>
          <a:xfrm rot="10800000">
            <a:off x="13550400" y="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1" name="Прямоугольный треугольник 90">
            <a:extLst>
              <a:ext uri="{FF2B5EF4-FFF2-40B4-BE49-F238E27FC236}">
                <a16:creationId xmlns:a16="http://schemas.microsoft.com/office/drawing/2014/main" id="{B2CCDF26-E460-6F82-0EF6-AEFF868576BF}"/>
              </a:ext>
            </a:extLst>
          </p:cNvPr>
          <p:cNvSpPr/>
          <p:nvPr/>
        </p:nvSpPr>
        <p:spPr>
          <a:xfrm rot="5400000">
            <a:off x="0" y="-21371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2" name="Прямоугольный треугольник 91">
            <a:extLst>
              <a:ext uri="{FF2B5EF4-FFF2-40B4-BE49-F238E27FC236}">
                <a16:creationId xmlns:a16="http://schemas.microsoft.com/office/drawing/2014/main" id="{296C1DCF-1FB2-8BF8-6AC2-796BE4203D5F}"/>
              </a:ext>
            </a:extLst>
          </p:cNvPr>
          <p:cNvSpPr/>
          <p:nvPr/>
        </p:nvSpPr>
        <p:spPr>
          <a:xfrm>
            <a:off x="0" y="714960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3" name="Прямоугольный треугольник 92">
            <a:extLst>
              <a:ext uri="{FF2B5EF4-FFF2-40B4-BE49-F238E27FC236}">
                <a16:creationId xmlns:a16="http://schemas.microsoft.com/office/drawing/2014/main" id="{E55D88B4-C60E-2428-8A23-76ECC130990C}"/>
              </a:ext>
            </a:extLst>
          </p:cNvPr>
          <p:cNvSpPr/>
          <p:nvPr/>
        </p:nvSpPr>
        <p:spPr>
          <a:xfrm rot="16200000">
            <a:off x="13550400" y="715361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9015874-6E59-2B51-839E-0B178478CBD3}"/>
              </a:ext>
            </a:extLst>
          </p:cNvPr>
          <p:cNvSpPr/>
          <p:nvPr/>
        </p:nvSpPr>
        <p:spPr>
          <a:xfrm>
            <a:off x="14230350" y="7928040"/>
            <a:ext cx="400050" cy="301559"/>
          </a:xfrm>
          <a:prstGeom prst="roundRect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9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800" y="1080000"/>
            <a:ext cx="12926801" cy="6490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358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C9F58-D156-7E12-D833-44EE3C3F0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60C5CF9-D3B1-D66C-0554-C4A59D4B6F00}"/>
              </a:ext>
            </a:extLst>
          </p:cNvPr>
          <p:cNvSpPr/>
          <p:nvPr/>
        </p:nvSpPr>
        <p:spPr>
          <a:xfrm>
            <a:off x="0" y="326972"/>
            <a:ext cx="14630400" cy="5023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50"/>
              </a:lnSpc>
              <a:buNone/>
            </a:pPr>
            <a:r>
              <a:rPr lang="ru-RU" sz="2700" dirty="0">
                <a:latin typeface="Inter" panose="020B0604020202020204" charset="0"/>
                <a:ea typeface="Inter" panose="020B0604020202020204" charset="0"/>
              </a:rPr>
              <a:t>Репозиторий проекта</a:t>
            </a:r>
            <a:endParaRPr lang="en-US" sz="270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90" name="Прямоугольный треугольник 89">
            <a:extLst>
              <a:ext uri="{FF2B5EF4-FFF2-40B4-BE49-F238E27FC236}">
                <a16:creationId xmlns:a16="http://schemas.microsoft.com/office/drawing/2014/main" id="{3FD9698B-660F-0AF8-A3C6-D328F6111351}"/>
              </a:ext>
            </a:extLst>
          </p:cNvPr>
          <p:cNvSpPr/>
          <p:nvPr/>
        </p:nvSpPr>
        <p:spPr>
          <a:xfrm rot="10800000">
            <a:off x="13550400" y="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1" name="Прямоугольный треугольник 90">
            <a:extLst>
              <a:ext uri="{FF2B5EF4-FFF2-40B4-BE49-F238E27FC236}">
                <a16:creationId xmlns:a16="http://schemas.microsoft.com/office/drawing/2014/main" id="{B2CCDF26-E460-6F82-0EF6-AEFF868576BF}"/>
              </a:ext>
            </a:extLst>
          </p:cNvPr>
          <p:cNvSpPr/>
          <p:nvPr/>
        </p:nvSpPr>
        <p:spPr>
          <a:xfrm rot="5400000">
            <a:off x="0" y="-21371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2" name="Прямоугольный треугольник 91">
            <a:extLst>
              <a:ext uri="{FF2B5EF4-FFF2-40B4-BE49-F238E27FC236}">
                <a16:creationId xmlns:a16="http://schemas.microsoft.com/office/drawing/2014/main" id="{296C1DCF-1FB2-8BF8-6AC2-796BE4203D5F}"/>
              </a:ext>
            </a:extLst>
          </p:cNvPr>
          <p:cNvSpPr/>
          <p:nvPr/>
        </p:nvSpPr>
        <p:spPr>
          <a:xfrm>
            <a:off x="0" y="714960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3" name="Прямоугольный треугольник 92">
            <a:extLst>
              <a:ext uri="{FF2B5EF4-FFF2-40B4-BE49-F238E27FC236}">
                <a16:creationId xmlns:a16="http://schemas.microsoft.com/office/drawing/2014/main" id="{E55D88B4-C60E-2428-8A23-76ECC130990C}"/>
              </a:ext>
            </a:extLst>
          </p:cNvPr>
          <p:cNvSpPr/>
          <p:nvPr/>
        </p:nvSpPr>
        <p:spPr>
          <a:xfrm rot="16200000">
            <a:off x="13550400" y="715361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9015874-6E59-2B51-839E-0B178478CBD3}"/>
              </a:ext>
            </a:extLst>
          </p:cNvPr>
          <p:cNvSpPr/>
          <p:nvPr/>
        </p:nvSpPr>
        <p:spPr>
          <a:xfrm>
            <a:off x="14230350" y="7928040"/>
            <a:ext cx="400050" cy="301559"/>
          </a:xfrm>
          <a:prstGeom prst="roundRect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10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20" y="1237485"/>
            <a:ext cx="13460961" cy="645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668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F8BD5-D6BB-8E4F-EB84-E918B45DB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9F86621A-5DDF-D00E-ECDA-367A186AD0EB}"/>
              </a:ext>
            </a:extLst>
          </p:cNvPr>
          <p:cNvSpPr/>
          <p:nvPr/>
        </p:nvSpPr>
        <p:spPr>
          <a:xfrm>
            <a:off x="0" y="326972"/>
            <a:ext cx="14630400" cy="5023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50"/>
              </a:lnSpc>
              <a:buNone/>
            </a:pPr>
            <a:r>
              <a:rPr lang="ru-RU" sz="2700" dirty="0">
                <a:latin typeface="Inter" panose="020B0604020202020204" charset="0"/>
                <a:ea typeface="Inter" panose="020B0604020202020204" charset="0"/>
              </a:rPr>
              <a:t>СУБД с данными</a:t>
            </a:r>
            <a:endParaRPr lang="en-US" sz="270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90" name="Прямоугольный треугольник 89">
            <a:extLst>
              <a:ext uri="{FF2B5EF4-FFF2-40B4-BE49-F238E27FC236}">
                <a16:creationId xmlns:a16="http://schemas.microsoft.com/office/drawing/2014/main" id="{3055F55E-9CF7-8BDC-B06E-518F650EB32E}"/>
              </a:ext>
            </a:extLst>
          </p:cNvPr>
          <p:cNvSpPr/>
          <p:nvPr/>
        </p:nvSpPr>
        <p:spPr>
          <a:xfrm rot="10800000">
            <a:off x="13550400" y="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1" name="Прямоугольный треугольник 90">
            <a:extLst>
              <a:ext uri="{FF2B5EF4-FFF2-40B4-BE49-F238E27FC236}">
                <a16:creationId xmlns:a16="http://schemas.microsoft.com/office/drawing/2014/main" id="{82279BD1-1DB8-5512-99B1-3EA891E44000}"/>
              </a:ext>
            </a:extLst>
          </p:cNvPr>
          <p:cNvSpPr/>
          <p:nvPr/>
        </p:nvSpPr>
        <p:spPr>
          <a:xfrm rot="5400000">
            <a:off x="0" y="-21371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2" name="Прямоугольный треугольник 91">
            <a:extLst>
              <a:ext uri="{FF2B5EF4-FFF2-40B4-BE49-F238E27FC236}">
                <a16:creationId xmlns:a16="http://schemas.microsoft.com/office/drawing/2014/main" id="{E1BF75E0-F94B-81A5-A572-25AF3622C1F4}"/>
              </a:ext>
            </a:extLst>
          </p:cNvPr>
          <p:cNvSpPr/>
          <p:nvPr/>
        </p:nvSpPr>
        <p:spPr>
          <a:xfrm>
            <a:off x="0" y="714960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3" name="Прямоугольный треугольник 92">
            <a:extLst>
              <a:ext uri="{FF2B5EF4-FFF2-40B4-BE49-F238E27FC236}">
                <a16:creationId xmlns:a16="http://schemas.microsoft.com/office/drawing/2014/main" id="{985F71AE-2C95-7A43-1E4D-9B930238D311}"/>
              </a:ext>
            </a:extLst>
          </p:cNvPr>
          <p:cNvSpPr/>
          <p:nvPr/>
        </p:nvSpPr>
        <p:spPr>
          <a:xfrm rot="16200000">
            <a:off x="13550400" y="715361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33B5ADD0-AE26-D3B2-AB94-538D8F2DBE21}"/>
              </a:ext>
            </a:extLst>
          </p:cNvPr>
          <p:cNvSpPr/>
          <p:nvPr/>
        </p:nvSpPr>
        <p:spPr>
          <a:xfrm>
            <a:off x="14230350" y="7928040"/>
            <a:ext cx="400050" cy="301559"/>
          </a:xfrm>
          <a:prstGeom prst="roundRect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43469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57AB3-28E2-EEF4-1E6D-666545E23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4615D89C-D28C-4232-36EF-5856622EF269}"/>
              </a:ext>
            </a:extLst>
          </p:cNvPr>
          <p:cNvSpPr/>
          <p:nvPr/>
        </p:nvSpPr>
        <p:spPr>
          <a:xfrm>
            <a:off x="0" y="326972"/>
            <a:ext cx="14630400" cy="5023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50"/>
              </a:lnSpc>
              <a:buNone/>
            </a:pPr>
            <a:r>
              <a:rPr lang="ru-RU" sz="2700" dirty="0">
                <a:latin typeface="Inter" panose="020B0604020202020204" charset="0"/>
                <a:ea typeface="Inter" panose="020B0604020202020204" charset="0"/>
              </a:rPr>
              <a:t>Защита от </a:t>
            </a:r>
            <a:r>
              <a:rPr lang="en-US" sz="2700">
                <a:latin typeface="Inter" panose="020B0604020202020204" charset="0"/>
                <a:ea typeface="Inter" panose="020B0604020202020204" charset="0"/>
              </a:rPr>
              <a:t>XSS</a:t>
            </a:r>
            <a:endParaRPr lang="en-US" sz="270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90" name="Прямоугольный треугольник 89">
            <a:extLst>
              <a:ext uri="{FF2B5EF4-FFF2-40B4-BE49-F238E27FC236}">
                <a16:creationId xmlns:a16="http://schemas.microsoft.com/office/drawing/2014/main" id="{89574A62-DA9B-8D08-D32F-39F110BDDB54}"/>
              </a:ext>
            </a:extLst>
          </p:cNvPr>
          <p:cNvSpPr/>
          <p:nvPr/>
        </p:nvSpPr>
        <p:spPr>
          <a:xfrm rot="10800000">
            <a:off x="13550400" y="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1" name="Прямоугольный треугольник 90">
            <a:extLst>
              <a:ext uri="{FF2B5EF4-FFF2-40B4-BE49-F238E27FC236}">
                <a16:creationId xmlns:a16="http://schemas.microsoft.com/office/drawing/2014/main" id="{F8A5003B-FE86-48B9-5E6A-003A27124CB9}"/>
              </a:ext>
            </a:extLst>
          </p:cNvPr>
          <p:cNvSpPr/>
          <p:nvPr/>
        </p:nvSpPr>
        <p:spPr>
          <a:xfrm rot="5400000">
            <a:off x="0" y="-21371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2" name="Прямоугольный треугольник 91">
            <a:extLst>
              <a:ext uri="{FF2B5EF4-FFF2-40B4-BE49-F238E27FC236}">
                <a16:creationId xmlns:a16="http://schemas.microsoft.com/office/drawing/2014/main" id="{183373EE-C99F-A7DF-68FD-F0F7A1AD180D}"/>
              </a:ext>
            </a:extLst>
          </p:cNvPr>
          <p:cNvSpPr/>
          <p:nvPr/>
        </p:nvSpPr>
        <p:spPr>
          <a:xfrm>
            <a:off x="0" y="714960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3" name="Прямоугольный треугольник 92">
            <a:extLst>
              <a:ext uri="{FF2B5EF4-FFF2-40B4-BE49-F238E27FC236}">
                <a16:creationId xmlns:a16="http://schemas.microsoft.com/office/drawing/2014/main" id="{07975F2E-9FBC-D8CD-7354-F3153F6C8566}"/>
              </a:ext>
            </a:extLst>
          </p:cNvPr>
          <p:cNvSpPr/>
          <p:nvPr/>
        </p:nvSpPr>
        <p:spPr>
          <a:xfrm rot="16200000">
            <a:off x="13550400" y="715361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DA279537-6A75-F0D1-597D-8F183A24C4CD}"/>
              </a:ext>
            </a:extLst>
          </p:cNvPr>
          <p:cNvSpPr/>
          <p:nvPr/>
        </p:nvSpPr>
        <p:spPr>
          <a:xfrm>
            <a:off x="14230350" y="7928040"/>
            <a:ext cx="400050" cy="301559"/>
          </a:xfrm>
          <a:prstGeom prst="roundRect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806777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45AA5-EF3A-F811-C279-D5D9D2E9B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483033DD-B058-CBCD-6105-0C5EE947D8CC}"/>
              </a:ext>
            </a:extLst>
          </p:cNvPr>
          <p:cNvSpPr/>
          <p:nvPr/>
        </p:nvSpPr>
        <p:spPr>
          <a:xfrm>
            <a:off x="0" y="326972"/>
            <a:ext cx="14630400" cy="5023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50"/>
              </a:lnSpc>
              <a:buNone/>
            </a:pPr>
            <a:r>
              <a:rPr lang="ru-RU" sz="2700" dirty="0">
                <a:latin typeface="Inter" panose="020B0604020202020204" charset="0"/>
                <a:ea typeface="Inter" panose="020B0604020202020204" charset="0"/>
              </a:rPr>
              <a:t>Защита от </a:t>
            </a:r>
            <a:r>
              <a:rPr lang="en-US" sz="2700" dirty="0">
                <a:latin typeface="Inter" panose="020B0604020202020204" charset="0"/>
                <a:ea typeface="Inter" panose="020B0604020202020204" charset="0"/>
              </a:rPr>
              <a:t>SQL </a:t>
            </a:r>
            <a:r>
              <a:rPr lang="ru-RU" sz="2700" dirty="0">
                <a:latin typeface="Inter" panose="020B0604020202020204" charset="0"/>
                <a:ea typeface="Inter" panose="020B0604020202020204" charset="0"/>
              </a:rPr>
              <a:t>инъекций</a:t>
            </a:r>
            <a:endParaRPr lang="en-US" sz="270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90" name="Прямоугольный треугольник 89">
            <a:extLst>
              <a:ext uri="{FF2B5EF4-FFF2-40B4-BE49-F238E27FC236}">
                <a16:creationId xmlns:a16="http://schemas.microsoft.com/office/drawing/2014/main" id="{82F546A8-8A73-83DE-7B06-4C35F23D4904}"/>
              </a:ext>
            </a:extLst>
          </p:cNvPr>
          <p:cNvSpPr/>
          <p:nvPr/>
        </p:nvSpPr>
        <p:spPr>
          <a:xfrm rot="10800000">
            <a:off x="13550400" y="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1" name="Прямоугольный треугольник 90">
            <a:extLst>
              <a:ext uri="{FF2B5EF4-FFF2-40B4-BE49-F238E27FC236}">
                <a16:creationId xmlns:a16="http://schemas.microsoft.com/office/drawing/2014/main" id="{2F362A1F-9E5D-1B08-4CF1-26F92D093E68}"/>
              </a:ext>
            </a:extLst>
          </p:cNvPr>
          <p:cNvSpPr/>
          <p:nvPr/>
        </p:nvSpPr>
        <p:spPr>
          <a:xfrm rot="5400000">
            <a:off x="0" y="-21371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2" name="Прямоугольный треугольник 91">
            <a:extLst>
              <a:ext uri="{FF2B5EF4-FFF2-40B4-BE49-F238E27FC236}">
                <a16:creationId xmlns:a16="http://schemas.microsoft.com/office/drawing/2014/main" id="{B2480674-0278-202B-C99C-4A2FECE4C25D}"/>
              </a:ext>
            </a:extLst>
          </p:cNvPr>
          <p:cNvSpPr/>
          <p:nvPr/>
        </p:nvSpPr>
        <p:spPr>
          <a:xfrm>
            <a:off x="0" y="714960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3" name="Прямоугольный треугольник 92">
            <a:extLst>
              <a:ext uri="{FF2B5EF4-FFF2-40B4-BE49-F238E27FC236}">
                <a16:creationId xmlns:a16="http://schemas.microsoft.com/office/drawing/2014/main" id="{AACCBD4E-ACDF-692B-AF80-F848DCF81287}"/>
              </a:ext>
            </a:extLst>
          </p:cNvPr>
          <p:cNvSpPr/>
          <p:nvPr/>
        </p:nvSpPr>
        <p:spPr>
          <a:xfrm rot="16200000">
            <a:off x="13550400" y="7153610"/>
            <a:ext cx="1080000" cy="1080000"/>
          </a:xfrm>
          <a:prstGeom prst="rtTriangle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C8C562AE-0E3B-0E03-C736-93C0B63677F2}"/>
              </a:ext>
            </a:extLst>
          </p:cNvPr>
          <p:cNvSpPr/>
          <p:nvPr/>
        </p:nvSpPr>
        <p:spPr>
          <a:xfrm>
            <a:off x="14230350" y="7928040"/>
            <a:ext cx="400050" cy="301559"/>
          </a:xfrm>
          <a:prstGeom prst="roundRect">
            <a:avLst/>
          </a:prstGeom>
          <a:solidFill>
            <a:srgbClr val="FF70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74826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03770"/>
            <a:ext cx="9144000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50"/>
              </a:lnSpc>
              <a:buNone/>
            </a:pPr>
            <a:r>
              <a:rPr lang="ru-RU" sz="3700" dirty="0">
                <a:latin typeface="Inter" panose="020B0604020202020204" charset="0"/>
                <a:ea typeface="Inter" panose="020B0604020202020204" charset="0"/>
                <a:cs typeface="Inter" pitchFamily="34" charset="-120"/>
              </a:rPr>
              <a:t>Распределение обязанностей</a:t>
            </a:r>
            <a:endParaRPr lang="en-US" sz="370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9D53A59E-CDA4-18C2-4E0A-0231F40EDC68}"/>
              </a:ext>
            </a:extLst>
          </p:cNvPr>
          <p:cNvSpPr/>
          <p:nvPr/>
        </p:nvSpPr>
        <p:spPr>
          <a:xfrm>
            <a:off x="14230350" y="7928040"/>
            <a:ext cx="400050" cy="301559"/>
          </a:xfrm>
          <a:prstGeom prst="roundRect">
            <a:avLst/>
          </a:prstGeom>
          <a:solidFill>
            <a:srgbClr val="FAC2AB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11</a:t>
            </a: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3BC10FB4-E2A8-D36C-FB8F-5FAD9121FA22}"/>
              </a:ext>
            </a:extLst>
          </p:cNvPr>
          <p:cNvGrpSpPr/>
          <p:nvPr/>
        </p:nvGrpSpPr>
        <p:grpSpPr>
          <a:xfrm>
            <a:off x="264331" y="1236678"/>
            <a:ext cx="8615334" cy="2083631"/>
            <a:chOff x="745699" y="4925263"/>
            <a:chExt cx="6249106" cy="1683830"/>
          </a:xfrm>
        </p:grpSpPr>
        <p:grpSp>
          <p:nvGrpSpPr>
            <p:cNvPr id="16" name="Группа 15">
              <a:extLst>
                <a:ext uri="{FF2B5EF4-FFF2-40B4-BE49-F238E27FC236}">
                  <a16:creationId xmlns:a16="http://schemas.microsoft.com/office/drawing/2014/main" id="{F49FAE1A-A657-82E2-6F6F-14F9584D1718}"/>
                </a:ext>
              </a:extLst>
            </p:cNvPr>
            <p:cNvGrpSpPr/>
            <p:nvPr/>
          </p:nvGrpSpPr>
          <p:grpSpPr>
            <a:xfrm>
              <a:off x="745699" y="4925263"/>
              <a:ext cx="6249106" cy="1683830"/>
              <a:chOff x="745699" y="4925263"/>
              <a:chExt cx="6249106" cy="1683830"/>
            </a:xfrm>
          </p:grpSpPr>
          <p:grpSp>
            <p:nvGrpSpPr>
              <p:cNvPr id="19" name="Группа 18">
                <a:extLst>
                  <a:ext uri="{FF2B5EF4-FFF2-40B4-BE49-F238E27FC236}">
                    <a16:creationId xmlns:a16="http://schemas.microsoft.com/office/drawing/2014/main" id="{F3677761-8BD6-CBFC-2D26-259A3F82888B}"/>
                  </a:ext>
                </a:extLst>
              </p:cNvPr>
              <p:cNvGrpSpPr/>
              <p:nvPr/>
            </p:nvGrpSpPr>
            <p:grpSpPr>
              <a:xfrm>
                <a:off x="745699" y="4925263"/>
                <a:ext cx="6249106" cy="1683830"/>
                <a:chOff x="770928" y="4944189"/>
                <a:chExt cx="7014063" cy="1683830"/>
              </a:xfrm>
            </p:grpSpPr>
            <p:sp>
              <p:nvSpPr>
                <p:cNvPr id="21" name="Shape 2"/>
                <p:cNvSpPr/>
                <p:nvPr/>
              </p:nvSpPr>
              <p:spPr>
                <a:xfrm>
                  <a:off x="793791" y="4944189"/>
                  <a:ext cx="6991200" cy="1683830"/>
                </a:xfrm>
                <a:prstGeom prst="roundRect">
                  <a:avLst>
                    <a:gd name="adj" fmla="val 4223"/>
                  </a:avLst>
                </a:prstGeom>
                <a:solidFill>
                  <a:srgbClr val="FFFFFF"/>
                </a:solidFill>
                <a:ln w="22860">
                  <a:solidFill>
                    <a:srgbClr val="FF7047"/>
                  </a:solidFill>
                  <a:prstDash val="solid"/>
                </a:ln>
              </p:spPr>
              <p:txBody>
                <a:bodyPr/>
                <a:lstStyle/>
                <a:p>
                  <a:endParaRPr lang="ru-RU" dirty="0">
                    <a:latin typeface="Inter" panose="020B0604020202020204" charset="0"/>
                    <a:ea typeface="Inter" panose="020B0604020202020204" charset="0"/>
                  </a:endParaRPr>
                </a:p>
              </p:txBody>
            </p:sp>
            <p:sp>
              <p:nvSpPr>
                <p:cNvPr id="22" name="Shape 3"/>
                <p:cNvSpPr/>
                <p:nvPr/>
              </p:nvSpPr>
              <p:spPr>
                <a:xfrm>
                  <a:off x="770928" y="4944189"/>
                  <a:ext cx="88169" cy="1683830"/>
                </a:xfrm>
                <a:prstGeom prst="roundRect">
                  <a:avLst>
                    <a:gd name="adj" fmla="val 195349"/>
                  </a:avLst>
                </a:prstGeom>
                <a:solidFill>
                  <a:srgbClr val="FF7047"/>
                </a:solidFill>
                <a:ln/>
              </p:spPr>
              <p:txBody>
                <a:bodyPr/>
                <a:lstStyle/>
                <a:p>
                  <a:endParaRPr lang="ru-RU" dirty="0">
                    <a:latin typeface="Inter" panose="020B0604020202020204" charset="0"/>
                    <a:ea typeface="Inter" panose="020B0604020202020204" charset="0"/>
                  </a:endParaRPr>
                </a:p>
              </p:txBody>
            </p:sp>
          </p:grpSp>
          <p:sp>
            <p:nvSpPr>
              <p:cNvPr id="20" name="Text 4"/>
              <p:cNvSpPr/>
              <p:nvPr/>
            </p:nvSpPr>
            <p:spPr>
              <a:xfrm>
                <a:off x="844619" y="5027572"/>
                <a:ext cx="1288493" cy="310158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ctr">
                  <a:lnSpc>
                    <a:spcPts val="2400"/>
                  </a:lnSpc>
                  <a:buNone/>
                </a:pPr>
                <a:r>
                  <a:rPr lang="ru-RU" sz="2000" b="1" dirty="0">
                    <a:latin typeface="Inter" panose="020B0604020202020204" charset="0"/>
                    <a:ea typeface="Inter" panose="020B0604020202020204" charset="0"/>
                    <a:cs typeface="Inter" pitchFamily="34" charset="-120"/>
                  </a:rPr>
                  <a:t>Якушев С.А.:</a:t>
                </a:r>
                <a:endParaRPr lang="en-US" sz="2000" b="1" dirty="0">
                  <a:latin typeface="Inter" panose="020B0604020202020204" charset="0"/>
                  <a:ea typeface="Inter" panose="020B0604020202020204" charset="0"/>
                </a:endParaRPr>
              </a:p>
            </p:txBody>
          </p:sp>
        </p:grpSp>
        <p:sp>
          <p:nvSpPr>
            <p:cNvPr id="17" name="Text 5"/>
            <p:cNvSpPr/>
            <p:nvPr/>
          </p:nvSpPr>
          <p:spPr>
            <a:xfrm>
              <a:off x="1083588" y="6114460"/>
              <a:ext cx="5911215" cy="31754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342900" indent="-342900" algn="l">
                <a:lnSpc>
                  <a:spcPts val="2500"/>
                </a:lnSpc>
                <a:buSzPct val="100000"/>
                <a:buChar char="•"/>
              </a:pPr>
              <a:endParaRPr lang="en-US" dirty="0">
                <a:latin typeface="Inter" panose="020B0604020202020204" charset="0"/>
                <a:ea typeface="Inter" panose="020B0604020202020204" charset="0"/>
              </a:endParaRPr>
            </a:p>
          </p:txBody>
        </p:sp>
        <p:sp>
          <p:nvSpPr>
            <p:cNvPr id="18" name="Text 6"/>
            <p:cNvSpPr/>
            <p:nvPr/>
          </p:nvSpPr>
          <p:spPr>
            <a:xfrm>
              <a:off x="905720" y="5416286"/>
              <a:ext cx="5930829" cy="10672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342900" indent="-342900">
                <a:lnSpc>
                  <a:spcPts val="2500"/>
                </a:lnSpc>
                <a:buSzPct val="100000"/>
                <a:buFontTx/>
                <a:buChar char="•"/>
              </a:pPr>
              <a:r>
                <a:rPr lang="ru-RU" sz="2000" dirty="0">
                  <a:latin typeface="Inter" panose="020B0604020202020204" charset="0"/>
                  <a:ea typeface="Inter" panose="020B0604020202020204" charset="0"/>
                </a:rPr>
                <a:t>Общая архитектура проекта и координация команды;</a:t>
              </a:r>
              <a:endParaRPr lang="ru-RU" sz="2000" dirty="0">
                <a:latin typeface="Inter" panose="020B0604020202020204" charset="0"/>
                <a:ea typeface="Inter" panose="020B0604020202020204" charset="0"/>
                <a:cs typeface="Manrope" pitchFamily="34" charset="-120"/>
              </a:endParaRPr>
            </a:p>
            <a:p>
              <a:pPr marL="342900" indent="-342900">
                <a:lnSpc>
                  <a:spcPts val="2500"/>
                </a:lnSpc>
                <a:buSzPct val="100000"/>
                <a:buFontTx/>
                <a:buChar char="•"/>
              </a:pPr>
              <a:r>
                <a:rPr lang="ru-RU" sz="2000" dirty="0">
                  <a:latin typeface="Inter" panose="020B0604020202020204" charset="0"/>
                  <a:ea typeface="Inter" panose="020B0604020202020204" charset="0"/>
                  <a:cs typeface="Manrope" pitchFamily="34" charset="-120"/>
                </a:rPr>
                <a:t>Страница входа;</a:t>
              </a:r>
            </a:p>
            <a:p>
              <a:pPr marL="342900" indent="-342900">
                <a:lnSpc>
                  <a:spcPts val="2500"/>
                </a:lnSpc>
                <a:buSzPct val="100000"/>
                <a:buFontTx/>
                <a:buChar char="•"/>
              </a:pPr>
              <a:r>
                <a:rPr lang="ru-RU" sz="2000" dirty="0">
                  <a:latin typeface="Inter" panose="020B0604020202020204" charset="0"/>
                  <a:ea typeface="Inter" panose="020B0604020202020204" charset="0"/>
                </a:rPr>
                <a:t>Страница «Уведомления»;</a:t>
              </a:r>
            </a:p>
            <a:p>
              <a:pPr marL="342900" indent="-342900">
                <a:lnSpc>
                  <a:spcPts val="2500"/>
                </a:lnSpc>
                <a:buSzPct val="100000"/>
                <a:buFontTx/>
                <a:buChar char="•"/>
              </a:pPr>
              <a:r>
                <a:rPr lang="ru-RU" sz="2000" dirty="0">
                  <a:latin typeface="Inter" panose="020B0604020202020204" charset="0"/>
                  <a:ea typeface="Inter" panose="020B0604020202020204" charset="0"/>
                </a:rPr>
                <a:t>Управление репозиторием </a:t>
              </a:r>
              <a:r>
                <a:rPr lang="en-US" sz="2000" dirty="0">
                  <a:latin typeface="Inter" panose="020B0604020202020204" charset="0"/>
                  <a:ea typeface="Inter" panose="020B0604020202020204" charset="0"/>
                </a:rPr>
                <a:t>GitHub</a:t>
              </a:r>
              <a:r>
                <a:rPr lang="ru-RU" sz="2000" dirty="0">
                  <a:latin typeface="Inter" panose="020B0604020202020204" charset="0"/>
                  <a:ea typeface="Inter" panose="020B0604020202020204" charset="0"/>
                </a:rPr>
                <a:t>.</a:t>
              </a:r>
            </a:p>
          </p:txBody>
        </p:sp>
      </p:grpSp>
      <p:grpSp>
        <p:nvGrpSpPr>
          <p:cNvPr id="55" name="Группа 54">
            <a:extLst>
              <a:ext uri="{FF2B5EF4-FFF2-40B4-BE49-F238E27FC236}">
                <a16:creationId xmlns:a16="http://schemas.microsoft.com/office/drawing/2014/main" id="{3BC10FB4-E2A8-D36C-FB8F-5FAD9121FA22}"/>
              </a:ext>
            </a:extLst>
          </p:cNvPr>
          <p:cNvGrpSpPr/>
          <p:nvPr/>
        </p:nvGrpSpPr>
        <p:grpSpPr>
          <a:xfrm>
            <a:off x="264330" y="3762006"/>
            <a:ext cx="8615332" cy="1954768"/>
            <a:chOff x="745700" y="4925263"/>
            <a:chExt cx="6249105" cy="1506737"/>
          </a:xfrm>
        </p:grpSpPr>
        <p:grpSp>
          <p:nvGrpSpPr>
            <p:cNvPr id="56" name="Группа 55">
              <a:extLst>
                <a:ext uri="{FF2B5EF4-FFF2-40B4-BE49-F238E27FC236}">
                  <a16:creationId xmlns:a16="http://schemas.microsoft.com/office/drawing/2014/main" id="{F49FAE1A-A657-82E2-6F6F-14F9584D1718}"/>
                </a:ext>
              </a:extLst>
            </p:cNvPr>
            <p:cNvGrpSpPr/>
            <p:nvPr/>
          </p:nvGrpSpPr>
          <p:grpSpPr>
            <a:xfrm>
              <a:off x="745700" y="4925263"/>
              <a:ext cx="6249105" cy="1189197"/>
              <a:chOff x="745700" y="4925263"/>
              <a:chExt cx="6249105" cy="1189197"/>
            </a:xfrm>
          </p:grpSpPr>
          <p:grpSp>
            <p:nvGrpSpPr>
              <p:cNvPr id="59" name="Группа 58">
                <a:extLst>
                  <a:ext uri="{FF2B5EF4-FFF2-40B4-BE49-F238E27FC236}">
                    <a16:creationId xmlns:a16="http://schemas.microsoft.com/office/drawing/2014/main" id="{F3677761-8BD6-CBFC-2D26-259A3F82888B}"/>
                  </a:ext>
                </a:extLst>
              </p:cNvPr>
              <p:cNvGrpSpPr/>
              <p:nvPr/>
            </p:nvGrpSpPr>
            <p:grpSpPr>
              <a:xfrm>
                <a:off x="745700" y="4925263"/>
                <a:ext cx="6249105" cy="1189197"/>
                <a:chOff x="770929" y="4944189"/>
                <a:chExt cx="7014062" cy="1189197"/>
              </a:xfrm>
            </p:grpSpPr>
            <p:sp>
              <p:nvSpPr>
                <p:cNvPr id="61" name="Shape 2"/>
                <p:cNvSpPr/>
                <p:nvPr/>
              </p:nvSpPr>
              <p:spPr>
                <a:xfrm>
                  <a:off x="793791" y="4944189"/>
                  <a:ext cx="6991200" cy="1189197"/>
                </a:xfrm>
                <a:prstGeom prst="roundRect">
                  <a:avLst>
                    <a:gd name="adj" fmla="val 4223"/>
                  </a:avLst>
                </a:prstGeom>
                <a:solidFill>
                  <a:srgbClr val="FFFFFF"/>
                </a:solidFill>
                <a:ln w="22860">
                  <a:solidFill>
                    <a:srgbClr val="FF7047"/>
                  </a:solidFill>
                  <a:prstDash val="solid"/>
                </a:ln>
              </p:spPr>
              <p:txBody>
                <a:bodyPr/>
                <a:lstStyle/>
                <a:p>
                  <a:endParaRPr lang="ru-RU" dirty="0">
                    <a:latin typeface="Inter" panose="020B0604020202020204" charset="0"/>
                    <a:ea typeface="Inter" panose="020B0604020202020204" charset="0"/>
                  </a:endParaRPr>
                </a:p>
              </p:txBody>
            </p:sp>
            <p:sp>
              <p:nvSpPr>
                <p:cNvPr id="62" name="Shape 3"/>
                <p:cNvSpPr/>
                <p:nvPr/>
              </p:nvSpPr>
              <p:spPr>
                <a:xfrm>
                  <a:off x="770929" y="4944189"/>
                  <a:ext cx="88169" cy="1189197"/>
                </a:xfrm>
                <a:prstGeom prst="roundRect">
                  <a:avLst>
                    <a:gd name="adj" fmla="val 195349"/>
                  </a:avLst>
                </a:prstGeom>
                <a:solidFill>
                  <a:srgbClr val="FF7047"/>
                </a:solidFill>
                <a:ln/>
              </p:spPr>
              <p:txBody>
                <a:bodyPr/>
                <a:lstStyle/>
                <a:p>
                  <a:endParaRPr lang="ru-RU" dirty="0">
                    <a:latin typeface="Inter" panose="020B0604020202020204" charset="0"/>
                    <a:ea typeface="Inter" panose="020B0604020202020204" charset="0"/>
                  </a:endParaRPr>
                </a:p>
              </p:txBody>
            </p:sp>
          </p:grpSp>
          <p:sp>
            <p:nvSpPr>
              <p:cNvPr id="60" name="Text 4"/>
              <p:cNvSpPr/>
              <p:nvPr/>
            </p:nvSpPr>
            <p:spPr>
              <a:xfrm>
                <a:off x="844619" y="5027572"/>
                <a:ext cx="1288493" cy="310158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ctr">
                  <a:lnSpc>
                    <a:spcPts val="2400"/>
                  </a:lnSpc>
                  <a:buNone/>
                </a:pPr>
                <a:r>
                  <a:rPr lang="ru-RU" sz="2000" b="1" dirty="0">
                    <a:latin typeface="Inter" panose="020B0604020202020204" charset="0"/>
                    <a:ea typeface="Inter" panose="020B0604020202020204" charset="0"/>
                    <a:cs typeface="Inter" pitchFamily="34" charset="-120"/>
                  </a:rPr>
                  <a:t>Сахаров В.В.:</a:t>
                </a:r>
                <a:endParaRPr lang="en-US" sz="2000" b="1" dirty="0">
                  <a:latin typeface="Inter" panose="020B0604020202020204" charset="0"/>
                  <a:ea typeface="Inter" panose="020B0604020202020204" charset="0"/>
                </a:endParaRPr>
              </a:p>
            </p:txBody>
          </p:sp>
        </p:grpSp>
        <p:sp>
          <p:nvSpPr>
            <p:cNvPr id="57" name="Text 5"/>
            <p:cNvSpPr/>
            <p:nvPr/>
          </p:nvSpPr>
          <p:spPr>
            <a:xfrm>
              <a:off x="1083588" y="6114460"/>
              <a:ext cx="5911215" cy="31754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342900" indent="-342900" algn="l">
                <a:lnSpc>
                  <a:spcPts val="2500"/>
                </a:lnSpc>
                <a:buSzPct val="100000"/>
                <a:buChar char="•"/>
              </a:pPr>
              <a:endParaRPr lang="en-US" dirty="0">
                <a:latin typeface="Inter" panose="020B0604020202020204" charset="0"/>
                <a:ea typeface="Inter" panose="020B0604020202020204" charset="0"/>
              </a:endParaRPr>
            </a:p>
          </p:txBody>
        </p:sp>
        <p:sp>
          <p:nvSpPr>
            <p:cNvPr id="58" name="Text 6"/>
            <p:cNvSpPr/>
            <p:nvPr/>
          </p:nvSpPr>
          <p:spPr>
            <a:xfrm>
              <a:off x="905720" y="5415469"/>
              <a:ext cx="5930829" cy="63664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342900" indent="-342900">
                <a:lnSpc>
                  <a:spcPts val="2500"/>
                </a:lnSpc>
                <a:buSzPct val="100000"/>
                <a:buFontTx/>
                <a:buChar char="•"/>
              </a:pPr>
              <a:r>
                <a:rPr lang="ru-RU" sz="2000" dirty="0">
                  <a:latin typeface="Inter" panose="020B0604020202020204" charset="0"/>
                  <a:ea typeface="Inter" panose="020B0604020202020204" charset="0"/>
                  <a:cs typeface="Manrope" pitchFamily="34" charset="-120"/>
                </a:rPr>
                <a:t>Модуль «Бронирование»;</a:t>
              </a:r>
            </a:p>
            <a:p>
              <a:pPr marL="342900" indent="-342900">
                <a:lnSpc>
                  <a:spcPts val="2500"/>
                </a:lnSpc>
                <a:buSzPct val="100000"/>
                <a:buFontTx/>
                <a:buChar char="•"/>
              </a:pPr>
              <a:r>
                <a:rPr lang="ru-RU" sz="2000" dirty="0">
                  <a:latin typeface="Inter" panose="020B0604020202020204" charset="0"/>
                  <a:ea typeface="Inter" panose="020B0604020202020204" charset="0"/>
                  <a:cs typeface="Manrope" pitchFamily="34" charset="-120"/>
                </a:rPr>
                <a:t>Модуль «Техника».</a:t>
              </a:r>
            </a:p>
          </p:txBody>
        </p:sp>
      </p:grpSp>
      <p:grpSp>
        <p:nvGrpSpPr>
          <p:cNvPr id="63" name="Группа 62">
            <a:extLst>
              <a:ext uri="{FF2B5EF4-FFF2-40B4-BE49-F238E27FC236}">
                <a16:creationId xmlns:a16="http://schemas.microsoft.com/office/drawing/2014/main" id="{3BC10FB4-E2A8-D36C-FB8F-5FAD9121FA22}"/>
              </a:ext>
            </a:extLst>
          </p:cNvPr>
          <p:cNvGrpSpPr/>
          <p:nvPr/>
        </p:nvGrpSpPr>
        <p:grpSpPr>
          <a:xfrm>
            <a:off x="264328" y="5797664"/>
            <a:ext cx="8615331" cy="1954768"/>
            <a:chOff x="745701" y="4925263"/>
            <a:chExt cx="6249104" cy="1506737"/>
          </a:xfrm>
        </p:grpSpPr>
        <p:grpSp>
          <p:nvGrpSpPr>
            <p:cNvPr id="64" name="Группа 63">
              <a:extLst>
                <a:ext uri="{FF2B5EF4-FFF2-40B4-BE49-F238E27FC236}">
                  <a16:creationId xmlns:a16="http://schemas.microsoft.com/office/drawing/2014/main" id="{F49FAE1A-A657-82E2-6F6F-14F9584D1718}"/>
                </a:ext>
              </a:extLst>
            </p:cNvPr>
            <p:cNvGrpSpPr/>
            <p:nvPr/>
          </p:nvGrpSpPr>
          <p:grpSpPr>
            <a:xfrm>
              <a:off x="745701" y="4925263"/>
              <a:ext cx="6249104" cy="1376134"/>
              <a:chOff x="745701" y="4925263"/>
              <a:chExt cx="6249104" cy="1376134"/>
            </a:xfrm>
          </p:grpSpPr>
          <p:grpSp>
            <p:nvGrpSpPr>
              <p:cNvPr id="67" name="Группа 66">
                <a:extLst>
                  <a:ext uri="{FF2B5EF4-FFF2-40B4-BE49-F238E27FC236}">
                    <a16:creationId xmlns:a16="http://schemas.microsoft.com/office/drawing/2014/main" id="{F3677761-8BD6-CBFC-2D26-259A3F82888B}"/>
                  </a:ext>
                </a:extLst>
              </p:cNvPr>
              <p:cNvGrpSpPr/>
              <p:nvPr/>
            </p:nvGrpSpPr>
            <p:grpSpPr>
              <a:xfrm>
                <a:off x="745701" y="4925263"/>
                <a:ext cx="6249104" cy="1376134"/>
                <a:chOff x="770930" y="4944189"/>
                <a:chExt cx="7014061" cy="1376134"/>
              </a:xfrm>
            </p:grpSpPr>
            <p:sp>
              <p:nvSpPr>
                <p:cNvPr id="69" name="Shape 2"/>
                <p:cNvSpPr/>
                <p:nvPr/>
              </p:nvSpPr>
              <p:spPr>
                <a:xfrm>
                  <a:off x="793791" y="4944189"/>
                  <a:ext cx="6991200" cy="1376134"/>
                </a:xfrm>
                <a:prstGeom prst="roundRect">
                  <a:avLst>
                    <a:gd name="adj" fmla="val 4223"/>
                  </a:avLst>
                </a:prstGeom>
                <a:solidFill>
                  <a:srgbClr val="FFFFFF"/>
                </a:solidFill>
                <a:ln w="22860">
                  <a:solidFill>
                    <a:srgbClr val="FF7047"/>
                  </a:solidFill>
                  <a:prstDash val="solid"/>
                </a:ln>
              </p:spPr>
              <p:txBody>
                <a:bodyPr/>
                <a:lstStyle/>
                <a:p>
                  <a:endParaRPr lang="ru-RU" dirty="0">
                    <a:latin typeface="Inter" panose="020B0604020202020204" charset="0"/>
                    <a:ea typeface="Inter" panose="020B0604020202020204" charset="0"/>
                  </a:endParaRPr>
                </a:p>
              </p:txBody>
            </p:sp>
            <p:sp>
              <p:nvSpPr>
                <p:cNvPr id="70" name="Shape 3"/>
                <p:cNvSpPr/>
                <p:nvPr/>
              </p:nvSpPr>
              <p:spPr>
                <a:xfrm>
                  <a:off x="770930" y="4944189"/>
                  <a:ext cx="88165" cy="1376134"/>
                </a:xfrm>
                <a:prstGeom prst="roundRect">
                  <a:avLst>
                    <a:gd name="adj" fmla="val 195349"/>
                  </a:avLst>
                </a:prstGeom>
                <a:solidFill>
                  <a:srgbClr val="FF7047"/>
                </a:solidFill>
                <a:ln/>
              </p:spPr>
              <p:txBody>
                <a:bodyPr/>
                <a:lstStyle/>
                <a:p>
                  <a:endParaRPr lang="ru-RU" dirty="0">
                    <a:latin typeface="Inter" panose="020B0604020202020204" charset="0"/>
                    <a:ea typeface="Inter" panose="020B0604020202020204" charset="0"/>
                  </a:endParaRPr>
                </a:p>
              </p:txBody>
            </p:sp>
          </p:grpSp>
          <p:sp>
            <p:nvSpPr>
              <p:cNvPr id="68" name="Text 4"/>
              <p:cNvSpPr/>
              <p:nvPr/>
            </p:nvSpPr>
            <p:spPr>
              <a:xfrm>
                <a:off x="844619" y="5027572"/>
                <a:ext cx="1288493" cy="310158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ctr">
                  <a:lnSpc>
                    <a:spcPts val="2400"/>
                  </a:lnSpc>
                  <a:buNone/>
                </a:pPr>
                <a:r>
                  <a:rPr lang="ru-RU" sz="2000" b="1" dirty="0">
                    <a:latin typeface="Inter" panose="020B0604020202020204" charset="0"/>
                    <a:ea typeface="Inter" panose="020B0604020202020204" charset="0"/>
                    <a:cs typeface="Inter" pitchFamily="34" charset="-120"/>
                  </a:rPr>
                  <a:t>Ильин П.Е.:</a:t>
                </a:r>
                <a:endParaRPr lang="en-US" sz="2000" b="1" dirty="0">
                  <a:latin typeface="Inter" panose="020B0604020202020204" charset="0"/>
                  <a:ea typeface="Inter" panose="020B0604020202020204" charset="0"/>
                </a:endParaRPr>
              </a:p>
            </p:txBody>
          </p:sp>
        </p:grpSp>
        <p:sp>
          <p:nvSpPr>
            <p:cNvPr id="65" name="Text 5"/>
            <p:cNvSpPr/>
            <p:nvPr/>
          </p:nvSpPr>
          <p:spPr>
            <a:xfrm>
              <a:off x="1083588" y="6114460"/>
              <a:ext cx="5911215" cy="31754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342900" indent="-342900" algn="l">
                <a:lnSpc>
                  <a:spcPts val="2500"/>
                </a:lnSpc>
                <a:buSzPct val="100000"/>
                <a:buChar char="•"/>
              </a:pPr>
              <a:endParaRPr lang="en-US" dirty="0">
                <a:latin typeface="Inter" panose="020B0604020202020204" charset="0"/>
                <a:ea typeface="Inter" panose="020B0604020202020204" charset="0"/>
              </a:endParaRPr>
            </a:p>
          </p:txBody>
        </p:sp>
        <p:sp>
          <p:nvSpPr>
            <p:cNvPr id="66" name="Text 6"/>
            <p:cNvSpPr/>
            <p:nvPr/>
          </p:nvSpPr>
          <p:spPr>
            <a:xfrm>
              <a:off x="905720" y="5410410"/>
              <a:ext cx="5930829" cy="74967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342900" indent="-342900">
                <a:lnSpc>
                  <a:spcPts val="2500"/>
                </a:lnSpc>
                <a:buSzPct val="100000"/>
                <a:buFontTx/>
                <a:buChar char="•"/>
              </a:pPr>
              <a:r>
                <a:rPr lang="ru-RU" sz="2000" dirty="0">
                  <a:latin typeface="Inter" panose="020B0604020202020204" charset="0"/>
                  <a:ea typeface="Inter" panose="020B0604020202020204" charset="0"/>
                </a:rPr>
                <a:t>Страница «Статистика»;</a:t>
              </a:r>
            </a:p>
            <a:p>
              <a:pPr marL="342900" indent="-342900">
                <a:lnSpc>
                  <a:spcPts val="2500"/>
                </a:lnSpc>
                <a:buSzPct val="100000"/>
                <a:buFontTx/>
                <a:buChar char="•"/>
              </a:pPr>
              <a:r>
                <a:rPr lang="ru-RU" sz="2000" dirty="0">
                  <a:latin typeface="Inter" panose="020B0604020202020204" charset="0"/>
                  <a:ea typeface="Inter" panose="020B0604020202020204" charset="0"/>
                </a:rPr>
                <a:t>Дизайн интерфейса, CSS-стили;</a:t>
              </a:r>
            </a:p>
            <a:p>
              <a:pPr marL="342900" indent="-342900">
                <a:lnSpc>
                  <a:spcPts val="2500"/>
                </a:lnSpc>
                <a:buSzPct val="100000"/>
                <a:buFontTx/>
                <a:buChar char="•"/>
              </a:pPr>
              <a:r>
                <a:rPr lang="ru-RU" sz="2000" dirty="0">
                  <a:latin typeface="Inter" panose="020B0604020202020204" charset="0"/>
                  <a:ea typeface="Inter" panose="020B0604020202020204" charset="0"/>
                </a:rPr>
                <a:t>Презентация.</a:t>
              </a:r>
              <a:endParaRPr lang="ru-RU" sz="2000" dirty="0">
                <a:latin typeface="Inter" panose="020B0604020202020204" charset="0"/>
                <a:ea typeface="Inter" panose="020B0604020202020204" charset="0"/>
                <a:cs typeface="Manrope" pitchFamily="34" charset="-12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0C603-EACB-E77C-1530-01D41CE4F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2924DC3-A192-2E19-801B-8696ED916E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B85A3E3-A753-0DB5-1D7C-84B2C7220A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40100" y1="37037" x2="40200" y2="47795"/>
                        <a14:foregroundMark x1="40200" y1="47795" x2="55300" y2="65432"/>
                        <a14:foregroundMark x1="55300" y1="65432" x2="57700" y2="41623"/>
                        <a14:foregroundMark x1="57700" y1="41623" x2="48800" y2="34744"/>
                        <a14:foregroundMark x1="48800" y1="34744" x2="47400" y2="35626"/>
                        <a14:foregroundMark x1="46300" y1="32804" x2="47200" y2="43915"/>
                        <a14:foregroundMark x1="47200" y1="43915" x2="42800" y2="36861"/>
                        <a14:foregroundMark x1="42800" y1="36861" x2="37700" y2="39330"/>
                        <a14:foregroundMark x1="44000" y1="35097" x2="51200" y2="40035"/>
                        <a14:foregroundMark x1="51200" y1="40035" x2="47800" y2="37037"/>
                        <a14:foregroundMark x1="46300" y1="41623" x2="47800" y2="39506"/>
                        <a14:foregroundMark x1="40400" y1="38624" x2="45100" y2="46737"/>
                        <a14:foregroundMark x1="45100" y1="46737" x2="50700" y2="43210"/>
                        <a14:foregroundMark x1="50700" y1="43210" x2="51100" y2="40212"/>
                        <a14:foregroundMark x1="39400" y1="40564" x2="44500" y2="46737"/>
                        <a14:foregroundMark x1="44500" y1="46737" x2="54100" y2="51675"/>
                        <a14:foregroundMark x1="54100" y1="51675" x2="52900" y2="46737"/>
                        <a14:foregroundMark x1="48300" y1="44092" x2="47700" y2="44092"/>
                        <a14:foregroundMark x1="42800" y1="40741" x2="51500" y2="42504"/>
                        <a14:foregroundMark x1="51500" y1="42504" x2="42500" y2="36508"/>
                        <a14:foregroundMark x1="42500" y1="36508" x2="46800" y2="41799"/>
                        <a14:foregroundMark x1="46800" y1="41799" x2="50800" y2="40212"/>
                        <a14:foregroundMark x1="51100" y1="40212" x2="49200" y2="45326"/>
                        <a14:foregroundMark x1="49400" y1="44974" x2="50500" y2="46737"/>
                        <a14:foregroundMark x1="49700" y1="45326" x2="49100" y2="49735"/>
                        <a14:foregroundMark x1="50700" y1="46737" x2="50400" y2="52028"/>
                        <a14:foregroundMark x1="51600" y1="43210" x2="51400" y2="47443"/>
                        <a14:foregroundMark x1="51900" y1="45855" x2="49200" y2="48325"/>
                        <a14:foregroundMark x1="47800" y1="46208" x2="47800" y2="46208"/>
                        <a14:foregroundMark x1="47300" y1="40035" x2="49600" y2="48677"/>
                        <a14:foregroundMark x1="49600" y1="48677" x2="52400" y2="44974"/>
                        <a14:foregroundMark x1="51500" y1="40035" x2="50700" y2="4321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9383" y="0"/>
            <a:ext cx="2539252" cy="1439756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114484" y="569476"/>
            <a:ext cx="7420570" cy="4002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850"/>
              </a:lnSpc>
            </a:pPr>
            <a:r>
              <a:rPr lang="ru-RU" sz="39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Сайт для администрирования </a:t>
            </a:r>
            <a:r>
              <a:rPr lang="en-US" sz="39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Telegram</a:t>
            </a:r>
            <a:r>
              <a:rPr lang="ru-RU" sz="39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-бота для записи на стирку</a:t>
            </a:r>
          </a:p>
        </p:txBody>
      </p:sp>
      <p:sp>
        <p:nvSpPr>
          <p:cNvPr id="7" name="Text 1"/>
          <p:cNvSpPr/>
          <p:nvPr/>
        </p:nvSpPr>
        <p:spPr>
          <a:xfrm>
            <a:off x="1114485" y="5290979"/>
            <a:ext cx="7163242" cy="1205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2400" b="1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Авторы работы: Студенты КузГТУ</a:t>
            </a:r>
          </a:p>
          <a:p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Якушев С.А., студент гр. ПИб-242, </a:t>
            </a:r>
            <a:r>
              <a:rPr lang="en-US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II</a:t>
            </a:r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 курс</a:t>
            </a:r>
          </a:p>
          <a:p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Сахаров В.В</a:t>
            </a:r>
            <a:r>
              <a:rPr lang="en-US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., </a:t>
            </a:r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студент гр. ПИб-242, </a:t>
            </a:r>
            <a:r>
              <a:rPr lang="en-US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II</a:t>
            </a:r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 курс</a:t>
            </a:r>
          </a:p>
          <a:p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Ильин П.Е</a:t>
            </a:r>
            <a:r>
              <a:rPr lang="en-US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., </a:t>
            </a:r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студент гр. ПИб-242, </a:t>
            </a:r>
            <a:r>
              <a:rPr lang="en-US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II</a:t>
            </a:r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 курс</a:t>
            </a:r>
          </a:p>
          <a:p>
            <a:endParaRPr lang="ru-RU" sz="2400" dirty="0">
              <a:latin typeface="Inter" panose="020B0604020202020204" charset="0"/>
              <a:ea typeface="Inter" panose="020B0604020202020204" charset="0"/>
              <a:cs typeface="Times New Roman" panose="02020603050405020304" pitchFamily="18" charset="0"/>
            </a:endParaRPr>
          </a:p>
          <a:p>
            <a:r>
              <a:rPr lang="ru-RU" sz="2400" b="1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Ссылка на репозиторий:</a:t>
            </a:r>
            <a:r>
              <a:rPr lang="ru-RU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latin typeface="Inter" panose="020B0604020202020204" charset="0"/>
                <a:ea typeface="Inter" panose="020B0604020202020204" charset="0"/>
                <a:cs typeface="Times New Roman" panose="02020603050405020304" pitchFamily="18" charset="0"/>
              </a:rPr>
              <a:t>https://github.com/Ratarion/stirka_site</a:t>
            </a:r>
            <a:endParaRPr lang="ru-RU" sz="2400" dirty="0">
              <a:latin typeface="Inter" panose="020B0604020202020204" charset="0"/>
              <a:ea typeface="Inter" panose="020B060402020202020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64979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614</TotalTime>
  <Words>343</Words>
  <Application>Microsoft Office PowerPoint</Application>
  <PresentationFormat>Произвольный</PresentationFormat>
  <Paragraphs>84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7" baseType="lpstr">
      <vt:lpstr>Inter</vt:lpstr>
      <vt:lpstr>Roboto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Стас Якушев</cp:lastModifiedBy>
  <cp:revision>51</cp:revision>
  <dcterms:created xsi:type="dcterms:W3CDTF">2025-12-01T13:06:18Z</dcterms:created>
  <dcterms:modified xsi:type="dcterms:W3CDTF">2026-04-04T06:07:31Z</dcterms:modified>
</cp:coreProperties>
</file>