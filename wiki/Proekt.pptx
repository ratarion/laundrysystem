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73" r:id="rId5"/>
    <p:sldId id="276" r:id="rId6"/>
    <p:sldId id="277" r:id="rId7"/>
    <p:sldId id="278" r:id="rId8"/>
    <p:sldId id="279" r:id="rId9"/>
    <p:sldId id="280" r:id="rId10"/>
    <p:sldId id="281" r:id="rId11"/>
    <p:sldId id="260" r:id="rId12"/>
    <p:sldId id="275" r:id="rId13"/>
  </p:sldIdLst>
  <p:sldSz cx="14630400" cy="8229600"/>
  <p:notesSz cx="8229600" cy="14630400"/>
  <p:embeddedFontLst>
    <p:embeddedFont>
      <p:font typeface="Inter" panose="020B0604020202020204" charset="0"/>
      <p:regular r:id="rId15"/>
    </p:embeddedFont>
    <p:embeddedFont>
      <p:font typeface="Roboto" panose="02000000000000000000" pitchFamily="2" charset="0"/>
      <p:regular r:id="rId16"/>
      <p:bold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CA42B75-FCC7-4ED4-8ED1-4D3B1B0434ED}">
          <p14:sldIdLst>
            <p14:sldId id="256"/>
            <p14:sldId id="257"/>
            <p14:sldId id="258"/>
          </p14:sldIdLst>
        </p14:section>
        <p14:section name="Продолжение" id="{4AC4F3C8-C391-4853-B9B3-B2E4EA95B721}">
          <p14:sldIdLst>
            <p14:sldId id="273"/>
            <p14:sldId id="276"/>
            <p14:sldId id="277"/>
            <p14:sldId id="278"/>
            <p14:sldId id="279"/>
            <p14:sldId id="280"/>
            <p14:sldId id="281"/>
            <p14:sldId id="260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7B122B-79F7-5756-D65A-822D8E86CB8E}" name="Стас Якушев" initials="СЯ" userId="1acfbfbb27ec457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2AB"/>
    <a:srgbClr val="FF7047"/>
    <a:srgbClr val="FCBEAF"/>
    <a:srgbClr val="FF9576"/>
    <a:srgbClr val="60DF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6" autoAdjust="0"/>
    <p:restoredTop sz="94474" autoAdjust="0"/>
  </p:normalViewPr>
  <p:slideViewPr>
    <p:cSldViewPr snapToGrid="0" snapToObjects="1">
      <p:cViewPr varScale="1">
        <p:scale>
          <a:sx n="60" d="100"/>
          <a:sy n="60" d="100"/>
        </p:scale>
        <p:origin x="708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66" d="100"/>
          <a:sy n="66" d="100"/>
        </p:scale>
        <p:origin x="2346" y="-9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7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999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980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800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936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206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42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8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C4C3E-3A94-431C-0055-CAE81968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03C68-BA27-6E21-A6CA-D1385CF9D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14C69-79A3-A3A7-0CAF-17486B0E6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7FBDC-7818-CB69-26EF-D9C18608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6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4484" y="569476"/>
            <a:ext cx="7420570" cy="400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 для администрирования 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-бота для записи на стирку</a:t>
            </a:r>
          </a:p>
        </p:txBody>
      </p:sp>
      <p:sp>
        <p:nvSpPr>
          <p:cNvPr id="4" name="Text 1"/>
          <p:cNvSpPr/>
          <p:nvPr/>
        </p:nvSpPr>
        <p:spPr>
          <a:xfrm>
            <a:off x="1114485" y="5290979"/>
            <a:ext cx="7163242" cy="1205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Авторы работы: Студенты КузГТУ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Якушев С.А., 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Сахаров В.В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Ильин П.Е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Ссылка на репозиторий: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https://github.com/Ratarion/stirka_site</a:t>
            </a:r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7C85DB-AC5C-5EAD-098D-2BE56428B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0100" y1="37037" x2="40200" y2="47795"/>
                        <a14:foregroundMark x1="40200" y1="47795" x2="55300" y2="65432"/>
                        <a14:foregroundMark x1="55300" y1="65432" x2="57700" y2="41623"/>
                        <a14:foregroundMark x1="57700" y1="41623" x2="48800" y2="34744"/>
                        <a14:foregroundMark x1="48800" y1="34744" x2="47400" y2="35626"/>
                        <a14:foregroundMark x1="46300" y1="32804" x2="47200" y2="43915"/>
                        <a14:foregroundMark x1="47200" y1="43915" x2="42800" y2="36861"/>
                        <a14:foregroundMark x1="42800" y1="36861" x2="37700" y2="39330"/>
                        <a14:foregroundMark x1="44000" y1="35097" x2="51200" y2="40035"/>
                        <a14:foregroundMark x1="51200" y1="40035" x2="47800" y2="37037"/>
                        <a14:foregroundMark x1="46300" y1="41623" x2="47800" y2="39506"/>
                        <a14:foregroundMark x1="40400" y1="38624" x2="45100" y2="46737"/>
                        <a14:foregroundMark x1="45100" y1="46737" x2="50700" y2="43210"/>
                        <a14:foregroundMark x1="50700" y1="43210" x2="51100" y2="40212"/>
                        <a14:foregroundMark x1="39400" y1="40564" x2="44500" y2="46737"/>
                        <a14:foregroundMark x1="44500" y1="46737" x2="54100" y2="51675"/>
                        <a14:foregroundMark x1="54100" y1="51675" x2="52900" y2="46737"/>
                        <a14:foregroundMark x1="48300" y1="44092" x2="47700" y2="44092"/>
                        <a14:foregroundMark x1="42800" y1="40741" x2="51500" y2="42504"/>
                        <a14:foregroundMark x1="51500" y1="42504" x2="42500" y2="36508"/>
                        <a14:foregroundMark x1="42500" y1="36508" x2="46800" y2="41799"/>
                        <a14:foregroundMark x1="46800" y1="41799" x2="50800" y2="40212"/>
                        <a14:foregroundMark x1="51100" y1="40212" x2="49200" y2="45326"/>
                        <a14:foregroundMark x1="49400" y1="44974" x2="50500" y2="46737"/>
                        <a14:foregroundMark x1="49700" y1="45326" x2="49100" y2="49735"/>
                        <a14:foregroundMark x1="50700" y1="46737" x2="50400" y2="52028"/>
                        <a14:foregroundMark x1="51600" y1="43210" x2="51400" y2="47443"/>
                        <a14:foregroundMark x1="51900" y1="45855" x2="49200" y2="48325"/>
                        <a14:foregroundMark x1="47800" y1="46208" x2="47800" y2="46208"/>
                        <a14:foregroundMark x1="47300" y1="40035" x2="49600" y2="48677"/>
                        <a14:foregroundMark x1="49600" y1="48677" x2="52400" y2="44974"/>
                        <a14:foregroundMark x1="51500" y1="40035" x2="50700" y2="432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9383" y="0"/>
            <a:ext cx="2539252" cy="14397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1424" y="2481442"/>
            <a:ext cx="68875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 anchorCtr="0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Цель</a:t>
            </a:r>
            <a:r>
              <a:rPr lang="ru-RU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, Проблема и Решение</a:t>
            </a:r>
            <a:endParaRPr lang="en-US" sz="3900" b="1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8457659" y="3755611"/>
            <a:ext cx="5910351" cy="2340000"/>
            <a:chOff x="745701" y="4925263"/>
            <a:chExt cx="6249104" cy="1783354"/>
          </a:xfrm>
        </p:grpSpPr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1" y="4925263"/>
              <a:ext cx="6249104" cy="1783354"/>
              <a:chOff x="745701" y="4925263"/>
              <a:chExt cx="6249104" cy="1783354"/>
            </a:xfrm>
          </p:grpSpPr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1" y="4925263"/>
                <a:ext cx="6249104" cy="1783354"/>
                <a:chOff x="770930" y="4944189"/>
                <a:chExt cx="7014061" cy="1783354"/>
              </a:xfrm>
            </p:grpSpPr>
            <p:sp>
              <p:nvSpPr>
                <p:cNvPr id="5" name="Shape 2"/>
                <p:cNvSpPr/>
                <p:nvPr/>
              </p:nvSpPr>
              <p:spPr>
                <a:xfrm>
                  <a:off x="793791" y="4944189"/>
                  <a:ext cx="6991200" cy="1783354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6" name="Shape 3"/>
                <p:cNvSpPr/>
                <p:nvPr/>
              </p:nvSpPr>
              <p:spPr>
                <a:xfrm>
                  <a:off x="770930" y="4944189"/>
                  <a:ext cx="88165" cy="1783354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7" name="Text 4"/>
              <p:cNvSpPr/>
              <p:nvPr/>
            </p:nvSpPr>
            <p:spPr>
              <a:xfrm>
                <a:off x="824251" y="4979858"/>
                <a:ext cx="4067228" cy="1282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en-US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Проблема: Неэффективность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8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922085" y="5143369"/>
              <a:ext cx="5897243" cy="15122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Хаотичное бронирование;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Высокая нагрузка на администраторов;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Отсутствие оперативного контроля;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Разрозненные обращения о проблемах;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Низкая информированность пользователей;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Отсутствие аналитики.</a:t>
              </a: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04EB68FF-D420-7ACC-309C-1503BC4A0142}"/>
              </a:ext>
            </a:extLst>
          </p:cNvPr>
          <p:cNvGrpSpPr/>
          <p:nvPr/>
        </p:nvGrpSpPr>
        <p:grpSpPr>
          <a:xfrm>
            <a:off x="583796" y="5353051"/>
            <a:ext cx="7331593" cy="2695522"/>
            <a:chOff x="7437238" y="4925263"/>
            <a:chExt cx="6249103" cy="2528769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2A0D7AD2-706E-07BB-849B-540E26AADC2A}"/>
                </a:ext>
              </a:extLst>
            </p:cNvPr>
            <p:cNvGrpSpPr/>
            <p:nvPr/>
          </p:nvGrpSpPr>
          <p:grpSpPr>
            <a:xfrm>
              <a:off x="7437238" y="4925263"/>
              <a:ext cx="6249103" cy="2528769"/>
              <a:chOff x="7391519" y="4944189"/>
              <a:chExt cx="6249103" cy="2598182"/>
            </a:xfrm>
          </p:grpSpPr>
          <p:sp>
            <p:nvSpPr>
              <p:cNvPr id="11" name="Shape 8"/>
              <p:cNvSpPr/>
              <p:nvPr/>
            </p:nvSpPr>
            <p:spPr>
              <a:xfrm>
                <a:off x="7414380" y="4944189"/>
                <a:ext cx="6226242" cy="2598182"/>
              </a:xfrm>
              <a:prstGeom prst="roundRect">
                <a:avLst>
                  <a:gd name="adj" fmla="val 4223"/>
                </a:avLst>
              </a:prstGeom>
              <a:solidFill>
                <a:srgbClr val="FFFFFF"/>
              </a:solidFill>
              <a:ln w="22860">
                <a:solidFill>
                  <a:srgbClr val="FF7047"/>
                </a:solidFill>
                <a:prstDash val="solid"/>
              </a:ln>
            </p:spPr>
            <p:txBody>
              <a:bodyPr/>
              <a:lstStyle/>
              <a:p>
                <a:endParaRPr lang="ru-RU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  <p:sp>
            <p:nvSpPr>
              <p:cNvPr id="12" name="Shape 9"/>
              <p:cNvSpPr/>
              <p:nvPr/>
            </p:nvSpPr>
            <p:spPr>
              <a:xfrm>
                <a:off x="7391519" y="4944189"/>
                <a:ext cx="91440" cy="2598182"/>
              </a:xfrm>
              <a:prstGeom prst="roundRect">
                <a:avLst>
                  <a:gd name="adj" fmla="val 195349"/>
                </a:avLst>
              </a:prstGeom>
              <a:solidFill>
                <a:srgbClr val="FF7047"/>
              </a:solidFill>
              <a:ln/>
            </p:spPr>
            <p:txBody>
              <a:bodyPr/>
              <a:lstStyle/>
              <a:p>
                <a:endParaRPr lang="ru-RU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13" name="Text 10"/>
            <p:cNvSpPr/>
            <p:nvPr/>
          </p:nvSpPr>
          <p:spPr>
            <a:xfrm>
              <a:off x="7619361" y="5061875"/>
              <a:ext cx="3920609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ru-RU" sz="2000" b="1" dirty="0">
                  <a:latin typeface="Inter" panose="020B0604020202020204" charset="0"/>
                  <a:ea typeface="Inter" panose="020B0604020202020204" charset="0"/>
                  <a:cs typeface="Inter" pitchFamily="34" charset="-120"/>
                </a:rPr>
                <a:t>Решение</a:t>
              </a:r>
              <a:r>
                <a:rPr lang="en-US" sz="2000" b="1" dirty="0">
                  <a:latin typeface="Inter" panose="020B0604020202020204" charset="0"/>
                  <a:ea typeface="Inter" panose="020B0604020202020204" charset="0"/>
                  <a:cs typeface="Inter" pitchFamily="34" charset="-120"/>
                </a:rPr>
                <a:t>: Удобство и</a:t>
              </a:r>
              <a:r>
                <a:rPr lang="ru-RU" sz="2000" b="1" dirty="0">
                  <a:latin typeface="Inter" panose="020B0604020202020204" charset="0"/>
                  <a:ea typeface="Inter" panose="020B0604020202020204" charset="0"/>
                  <a:cs typeface="Inter" pitchFamily="34" charset="-120"/>
                </a:rPr>
                <a:t> Эффективность</a:t>
              </a:r>
              <a:endParaRPr lang="en-US" sz="2000" b="1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7586886" y="5472902"/>
              <a:ext cx="5892531" cy="1836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Панель мониторинга в реальном времени;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Управление бронированием;</a:t>
              </a: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Работа с пользователями;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Система обработки обращений;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Аналитика и отчётность;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Интеграция с </a:t>
              </a:r>
              <a:r>
                <a:rPr lang="en-US" dirty="0">
                  <a:latin typeface="Inter" panose="020B0604020202020204" charset="0"/>
                  <a:ea typeface="Inter" panose="020B0604020202020204" charset="0"/>
                </a:rPr>
                <a:t>Telegram-</a:t>
              </a: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ботом.</a:t>
              </a: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  <a:p>
              <a:pPr algn="l">
                <a:lnSpc>
                  <a:spcPts val="2500"/>
                </a:lnSpc>
                <a:buSzPct val="100000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8A08353-4EE1-267D-2F9B-3531997A012A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2</a:t>
            </a:r>
            <a:endParaRPr lang="ru-RU" sz="1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585819" y="3158670"/>
            <a:ext cx="7329572" cy="2030791"/>
            <a:chOff x="745701" y="4925263"/>
            <a:chExt cx="6249104" cy="1783354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1" y="4925263"/>
              <a:ext cx="6249104" cy="1783354"/>
              <a:chOff x="745701" y="4925263"/>
              <a:chExt cx="6249104" cy="1783354"/>
            </a:xfrm>
          </p:grpSpPr>
          <p:grpSp>
            <p:nvGrpSpPr>
              <p:cNvPr id="36" name="Группа 35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1" y="4925263"/>
                <a:ext cx="6249104" cy="1783354"/>
                <a:chOff x="770930" y="4944189"/>
                <a:chExt cx="7014061" cy="1783354"/>
              </a:xfrm>
            </p:grpSpPr>
            <p:sp>
              <p:nvSpPr>
                <p:cNvPr id="38" name="Shape 2"/>
                <p:cNvSpPr/>
                <p:nvPr/>
              </p:nvSpPr>
              <p:spPr>
                <a:xfrm>
                  <a:off x="793791" y="4944189"/>
                  <a:ext cx="6991200" cy="1783354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39" name="Shape 3"/>
                <p:cNvSpPr/>
                <p:nvPr/>
              </p:nvSpPr>
              <p:spPr>
                <a:xfrm>
                  <a:off x="770930" y="4944189"/>
                  <a:ext cx="88166" cy="1783354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37" name="Text 4"/>
              <p:cNvSpPr/>
              <p:nvPr/>
            </p:nvSpPr>
            <p:spPr>
              <a:xfrm>
                <a:off x="1369404" y="5054624"/>
                <a:ext cx="4452580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Цель</a:t>
                </a:r>
                <a:r>
                  <a:rPr lang="en-US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: </a:t>
                </a: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Инструмент для мониторинга и управления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34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35" name="Text 6"/>
            <p:cNvSpPr/>
            <p:nvPr/>
          </p:nvSpPr>
          <p:spPr>
            <a:xfrm>
              <a:off x="905720" y="5449471"/>
              <a:ext cx="5930829" cy="12320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Централизовать управление процессами бронирования;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Сократить время обработки запросов администраторами;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Создать единую точку сбора и обработки обращений о </a:t>
              </a:r>
            </a:p>
            <a:p>
              <a:pPr>
                <a:lnSpc>
                  <a:spcPts val="2500"/>
                </a:lnSpc>
                <a:buSzPct val="100000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     неисправностях оборудования.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09146"/>
            <a:ext cx="1463040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Основные </a:t>
            </a:r>
            <a:r>
              <a:rPr lang="ru-RU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возможности</a:t>
            </a:r>
            <a:r>
              <a:rPr lang="en-US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</a:t>
            </a:r>
            <a:r>
              <a:rPr lang="ru-RU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и П</a:t>
            </a:r>
            <a:r>
              <a:rPr lang="en-US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ользовател</a:t>
            </a:r>
            <a:r>
              <a:rPr lang="ru-RU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и системы</a:t>
            </a:r>
            <a:endParaRPr lang="en-US" sz="39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644FD02-3C98-CB46-DB8B-03D206328E0C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3</a:t>
            </a:r>
            <a:endParaRPr lang="ru-RU" sz="1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302522" y="4601631"/>
            <a:ext cx="9086882" cy="3380689"/>
            <a:chOff x="745701" y="4925263"/>
            <a:chExt cx="6307286" cy="1788642"/>
          </a:xfrm>
        </p:grpSpPr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1" y="4925263"/>
              <a:ext cx="6307286" cy="1788642"/>
              <a:chOff x="745701" y="4925263"/>
              <a:chExt cx="6307286" cy="1788642"/>
            </a:xfrm>
          </p:grpSpPr>
          <p:grpSp>
            <p:nvGrpSpPr>
              <p:cNvPr id="49" name="Группа 48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1" y="4925263"/>
                <a:ext cx="6307286" cy="1788642"/>
                <a:chOff x="770930" y="4944189"/>
                <a:chExt cx="7079365" cy="1788642"/>
              </a:xfrm>
            </p:grpSpPr>
            <p:sp>
              <p:nvSpPr>
                <p:cNvPr id="51" name="Shape 2"/>
                <p:cNvSpPr/>
                <p:nvPr/>
              </p:nvSpPr>
              <p:spPr>
                <a:xfrm>
                  <a:off x="859095" y="4949477"/>
                  <a:ext cx="6991200" cy="1783354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52" name="Shape 3"/>
                <p:cNvSpPr/>
                <p:nvPr/>
              </p:nvSpPr>
              <p:spPr>
                <a:xfrm>
                  <a:off x="770930" y="4944189"/>
                  <a:ext cx="88165" cy="1783354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50" name="Text 4"/>
              <p:cNvSpPr/>
              <p:nvPr/>
            </p:nvSpPr>
            <p:spPr>
              <a:xfrm>
                <a:off x="818172" y="4979858"/>
                <a:ext cx="3125657" cy="1282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Основные возможности системы: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47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48" name="Text 6"/>
            <p:cNvSpPr/>
            <p:nvPr/>
          </p:nvSpPr>
          <p:spPr>
            <a:xfrm>
              <a:off x="885883" y="5143369"/>
              <a:ext cx="6000410" cy="15122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Администрирование через веб-сайт: просмотр и управление </a:t>
              </a:r>
            </a:p>
            <a:p>
              <a:pPr>
                <a:lnSpc>
                  <a:spcPts val="2500"/>
                </a:lnSpc>
                <a:buSzPct val="100000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     бронированиями, статистика использования, мониторинг статуса машин;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Отчетность о использования машинок;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Просмотр записей на текущий день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Отключение оборудования;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Уведомление пользователей о поломке;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Уведомление пользователей о починке оборудования;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Массовая отмена записей на определенный период (определенной </a:t>
              </a:r>
            </a:p>
            <a:p>
              <a:pPr>
                <a:lnSpc>
                  <a:spcPts val="2500"/>
                </a:lnSpc>
                <a:buSzPct val="100000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     машинки, пользователя, типа машинки).</a:t>
              </a: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43918ED-C2F2-081F-D32E-1D0507073CDD}"/>
              </a:ext>
            </a:extLst>
          </p:cNvPr>
          <p:cNvGrpSpPr/>
          <p:nvPr/>
        </p:nvGrpSpPr>
        <p:grpSpPr>
          <a:xfrm>
            <a:off x="9546827" y="3270243"/>
            <a:ext cx="4841330" cy="2697420"/>
            <a:chOff x="9389015" y="3262405"/>
            <a:chExt cx="4841330" cy="4740128"/>
          </a:xfrm>
        </p:grpSpPr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3BC10FB4-E2A8-D36C-FB8F-5FAD9121FA22}"/>
                </a:ext>
              </a:extLst>
            </p:cNvPr>
            <p:cNvGrpSpPr/>
            <p:nvPr/>
          </p:nvGrpSpPr>
          <p:grpSpPr>
            <a:xfrm>
              <a:off x="9433661" y="3262405"/>
              <a:ext cx="4796684" cy="4740128"/>
              <a:chOff x="745701" y="4926841"/>
              <a:chExt cx="6249102" cy="1783354"/>
            </a:xfrm>
          </p:grpSpPr>
          <p:grpSp>
            <p:nvGrpSpPr>
              <p:cNvPr id="54" name="Группа 53">
                <a:extLst>
                  <a:ext uri="{FF2B5EF4-FFF2-40B4-BE49-F238E27FC236}">
                    <a16:creationId xmlns:a16="http://schemas.microsoft.com/office/drawing/2014/main" id="{F49FAE1A-A657-82E2-6F6F-14F9584D1718}"/>
                  </a:ext>
                </a:extLst>
              </p:cNvPr>
              <p:cNvGrpSpPr/>
              <p:nvPr/>
            </p:nvGrpSpPr>
            <p:grpSpPr>
              <a:xfrm>
                <a:off x="745701" y="4926841"/>
                <a:ext cx="6228736" cy="1783354"/>
                <a:chOff x="745701" y="4926841"/>
                <a:chExt cx="6228736" cy="1783354"/>
              </a:xfrm>
            </p:grpSpPr>
            <p:sp>
              <p:nvSpPr>
                <p:cNvPr id="59" name="Shape 2"/>
                <p:cNvSpPr/>
                <p:nvPr/>
              </p:nvSpPr>
              <p:spPr>
                <a:xfrm>
                  <a:off x="745701" y="4926841"/>
                  <a:ext cx="6228736" cy="1783354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58" name="Text 4"/>
                <p:cNvSpPr/>
                <p:nvPr/>
              </p:nvSpPr>
              <p:spPr>
                <a:xfrm>
                  <a:off x="1157107" y="4979858"/>
                  <a:ext cx="3830035" cy="108956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400"/>
                    </a:lnSpc>
                    <a:buNone/>
                  </a:pPr>
                  <a:r>
                    <a:rPr lang="en-US" sz="2000" b="1" dirty="0">
                      <a:latin typeface="Inter" panose="020B0604020202020204" charset="0"/>
                      <a:ea typeface="Inter" panose="020B0604020202020204" charset="0"/>
                      <a:cs typeface="Inter" pitchFamily="34" charset="-120"/>
                    </a:rPr>
                    <a:t>П</a:t>
                  </a:r>
                  <a:r>
                    <a:rPr lang="ru-RU" sz="2000" b="1" dirty="0">
                      <a:latin typeface="Inter" panose="020B0604020202020204" charset="0"/>
                      <a:ea typeface="Inter" panose="020B0604020202020204" charset="0"/>
                      <a:cs typeface="Inter" pitchFamily="34" charset="-120"/>
                    </a:rPr>
                    <a:t>ользователи системы</a:t>
                  </a:r>
                  <a:r>
                    <a:rPr lang="en-US" sz="2000" b="1" dirty="0">
                      <a:latin typeface="Inter" panose="020B0604020202020204" charset="0"/>
                      <a:ea typeface="Inter" panose="020B0604020202020204" charset="0"/>
                      <a:cs typeface="Inter" pitchFamily="34" charset="-120"/>
                    </a:rPr>
                    <a:t>:</a:t>
                  </a:r>
                  <a:endParaRPr lang="en-US" sz="2000" b="1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55" name="Text 5"/>
              <p:cNvSpPr/>
              <p:nvPr/>
            </p:nvSpPr>
            <p:spPr>
              <a:xfrm>
                <a:off x="1083588" y="6114460"/>
                <a:ext cx="5911215" cy="3175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500"/>
                  </a:lnSpc>
                  <a:buSzPct val="100000"/>
                  <a:buChar char="•"/>
                </a:pPr>
                <a:endParaRPr lang="en-US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  <p:sp>
            <p:nvSpPr>
              <p:cNvPr id="56" name="Text 6"/>
              <p:cNvSpPr/>
              <p:nvPr/>
            </p:nvSpPr>
            <p:spPr>
              <a:xfrm>
                <a:off x="922085" y="5143369"/>
                <a:ext cx="5897243" cy="151227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>
                  <a:lnSpc>
                    <a:spcPts val="2500"/>
                  </a:lnSpc>
                  <a:buSzPct val="100000"/>
                  <a:buFontTx/>
                  <a:buChar char="•"/>
                </a:pPr>
                <a:r>
                  <a:rPr lang="ru-RU" dirty="0">
                    <a:latin typeface="Inter" panose="020B0604020202020204" charset="0"/>
                    <a:ea typeface="Inter" panose="020B0604020202020204" charset="0"/>
                    <a:cs typeface="Manrope" pitchFamily="34" charset="-120"/>
                  </a:rPr>
                  <a:t>Администраторы (зав. общежитиями, </a:t>
                </a:r>
              </a:p>
              <a:p>
                <a:pPr>
                  <a:lnSpc>
                    <a:spcPts val="2500"/>
                  </a:lnSpc>
                  <a:buSzPct val="100000"/>
                </a:pPr>
                <a:r>
                  <a:rPr lang="ru-RU" dirty="0">
                    <a:latin typeface="Inter" panose="020B0604020202020204" charset="0"/>
                    <a:ea typeface="Inter" panose="020B0604020202020204" charset="0"/>
                    <a:cs typeface="Manrope" pitchFamily="34" charset="-120"/>
                  </a:rPr>
                  <a:t>     староста студ. городка;</a:t>
                </a:r>
              </a:p>
              <a:p>
                <a:pPr marL="342900" indent="-342900">
                  <a:lnSpc>
                    <a:spcPts val="2500"/>
                  </a:lnSpc>
                  <a:buSzPct val="100000"/>
                  <a:buFontTx/>
                  <a:buChar char="•"/>
                </a:pPr>
                <a:r>
                  <a:rPr lang="ru-RU" dirty="0">
                    <a:latin typeface="Inter" panose="020B0604020202020204" charset="0"/>
                    <a:ea typeface="Inter" panose="020B0604020202020204" charset="0"/>
                  </a:rPr>
                  <a:t>Технические специалисты (старосты </a:t>
                </a:r>
                <a:br>
                  <a:rPr lang="ru-RU" dirty="0">
                    <a:latin typeface="Inter" panose="020B0604020202020204" charset="0"/>
                    <a:ea typeface="Inter" panose="020B0604020202020204" charset="0"/>
                  </a:rPr>
                </a:br>
                <a:r>
                  <a:rPr lang="ru-RU" dirty="0">
                    <a:latin typeface="Inter" panose="020B0604020202020204" charset="0"/>
                    <a:ea typeface="Inter" panose="020B0604020202020204" charset="0"/>
                  </a:rPr>
                  <a:t>этажей);</a:t>
                </a:r>
              </a:p>
              <a:p>
                <a:pPr marL="342900" indent="-342900">
                  <a:lnSpc>
                    <a:spcPts val="2500"/>
                  </a:lnSpc>
                  <a:buSzPct val="100000"/>
                  <a:buFontTx/>
                  <a:buChar char="•"/>
                </a:pPr>
                <a:r>
                  <a:rPr lang="ru-RU" dirty="0">
                    <a:latin typeface="Inter" panose="020B0604020202020204" charset="0"/>
                    <a:ea typeface="Inter" panose="020B0604020202020204" charset="0"/>
                  </a:rPr>
                  <a:t>Пользователи (студенты живущие в </a:t>
                </a:r>
              </a:p>
              <a:p>
                <a:pPr>
                  <a:lnSpc>
                    <a:spcPts val="2500"/>
                  </a:lnSpc>
                  <a:buSzPct val="100000"/>
                </a:pPr>
                <a:r>
                  <a:rPr lang="ru-RU" dirty="0">
                    <a:latin typeface="Inter" panose="020B0604020202020204" charset="0"/>
                    <a:ea typeface="Inter" panose="020B0604020202020204" charset="0"/>
                  </a:rPr>
                  <a:t>     общежитиях).</a:t>
                </a:r>
              </a:p>
            </p:txBody>
          </p:sp>
        </p:grpSp>
        <p:sp>
          <p:nvSpPr>
            <p:cNvPr id="61" name="Shape 3"/>
            <p:cNvSpPr/>
            <p:nvPr/>
          </p:nvSpPr>
          <p:spPr>
            <a:xfrm>
              <a:off x="9389015" y="3262405"/>
              <a:ext cx="113166" cy="4735932"/>
            </a:xfrm>
            <a:prstGeom prst="roundRect">
              <a:avLst>
                <a:gd name="adj" fmla="val 195349"/>
              </a:avLst>
            </a:prstGeom>
            <a:solidFill>
              <a:srgbClr val="FF7047"/>
            </a:solidFill>
            <a:ln/>
          </p:spPr>
          <p:txBody>
            <a:bodyPr/>
            <a:lstStyle/>
            <a:p>
              <a:endParaRPr lang="ru-RU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Диаграмма </a:t>
            </a:r>
            <a:r>
              <a:rPr lang="en-US" sz="2700" dirty="0">
                <a:latin typeface="Inter" panose="020B0604020202020204" charset="0"/>
                <a:ea typeface="Inter" panose="020B0604020202020204" charset="0"/>
              </a:rPr>
              <a:t>Use-Case</a:t>
            </a: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34" name="Рисунок 33"/>
          <p:cNvPicPr/>
          <p:nvPr/>
        </p:nvPicPr>
        <p:blipFill>
          <a:blip r:embed="rId3"/>
          <a:stretch>
            <a:fillRect/>
          </a:stretch>
        </p:blipFill>
        <p:spPr>
          <a:xfrm>
            <a:off x="540000" y="1045574"/>
            <a:ext cx="5879850" cy="3735977"/>
          </a:xfrm>
          <a:prstGeom prst="rect">
            <a:avLst/>
          </a:prstGeom>
        </p:spPr>
      </p:pic>
      <p:pic>
        <p:nvPicPr>
          <p:cNvPr id="35" name="Рисунок 34"/>
          <p:cNvPicPr/>
          <p:nvPr/>
        </p:nvPicPr>
        <p:blipFill>
          <a:blip r:embed="rId4"/>
          <a:stretch>
            <a:fillRect/>
          </a:stretch>
        </p:blipFill>
        <p:spPr>
          <a:xfrm>
            <a:off x="8175374" y="1045574"/>
            <a:ext cx="5915026" cy="3735976"/>
          </a:xfrm>
          <a:prstGeom prst="rect">
            <a:avLst/>
          </a:prstGeom>
        </p:spPr>
      </p:pic>
      <p:pic>
        <p:nvPicPr>
          <p:cNvPr id="37" name="Рисунок 36"/>
          <p:cNvPicPr/>
          <p:nvPr/>
        </p:nvPicPr>
        <p:blipFill>
          <a:blip r:embed="rId5"/>
          <a:stretch>
            <a:fillRect/>
          </a:stretch>
        </p:blipFill>
        <p:spPr>
          <a:xfrm>
            <a:off x="4857749" y="4997787"/>
            <a:ext cx="5145145" cy="308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74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Схема базы данных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754062" y="1058629"/>
            <a:ext cx="11122275" cy="684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32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Таблица </a:t>
            </a:r>
            <a:r>
              <a:rPr lang="en-US" sz="2700" dirty="0">
                <a:latin typeface="Inter" panose="020B0604020202020204" charset="0"/>
                <a:ea typeface="Inter" panose="020B0604020202020204" charset="0"/>
              </a:rPr>
              <a:t>endpoint</a:t>
            </a: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-</a:t>
            </a:r>
            <a:r>
              <a:rPr lang="ru-RU" sz="2700" dirty="0" err="1">
                <a:latin typeface="Inter" panose="020B0604020202020204" charset="0"/>
                <a:ea typeface="Inter" panose="020B0604020202020204" charset="0"/>
              </a:rPr>
              <a:t>ов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25015"/>
              </p:ext>
            </p:extLst>
          </p:nvPr>
        </p:nvGraphicFramePr>
        <p:xfrm>
          <a:off x="457201" y="867441"/>
          <a:ext cx="13773150" cy="7049705"/>
        </p:xfrm>
        <a:graphic>
          <a:graphicData uri="http://schemas.openxmlformats.org/drawingml/2006/table">
            <a:tbl>
              <a:tblPr/>
              <a:tblGrid>
                <a:gridCol w="348590">
                  <a:extLst>
                    <a:ext uri="{9D8B030D-6E8A-4147-A177-3AD203B41FA5}">
                      <a16:colId xmlns:a16="http://schemas.microsoft.com/office/drawing/2014/main" val="3751214635"/>
                    </a:ext>
                  </a:extLst>
                </a:gridCol>
                <a:gridCol w="2294879">
                  <a:extLst>
                    <a:ext uri="{9D8B030D-6E8A-4147-A177-3AD203B41FA5}">
                      <a16:colId xmlns:a16="http://schemas.microsoft.com/office/drawing/2014/main" val="4290646952"/>
                    </a:ext>
                  </a:extLst>
                </a:gridCol>
                <a:gridCol w="1607385">
                  <a:extLst>
                    <a:ext uri="{9D8B030D-6E8A-4147-A177-3AD203B41FA5}">
                      <a16:colId xmlns:a16="http://schemas.microsoft.com/office/drawing/2014/main" val="1363361265"/>
                    </a:ext>
                  </a:extLst>
                </a:gridCol>
                <a:gridCol w="823058">
                  <a:extLst>
                    <a:ext uri="{9D8B030D-6E8A-4147-A177-3AD203B41FA5}">
                      <a16:colId xmlns:a16="http://schemas.microsoft.com/office/drawing/2014/main" val="2139205310"/>
                    </a:ext>
                  </a:extLst>
                </a:gridCol>
                <a:gridCol w="3252531">
                  <a:extLst>
                    <a:ext uri="{9D8B030D-6E8A-4147-A177-3AD203B41FA5}">
                      <a16:colId xmlns:a16="http://schemas.microsoft.com/office/drawing/2014/main" val="1068663921"/>
                    </a:ext>
                  </a:extLst>
                </a:gridCol>
                <a:gridCol w="5446707">
                  <a:extLst>
                    <a:ext uri="{9D8B030D-6E8A-4147-A177-3AD203B41FA5}">
                      <a16:colId xmlns:a16="http://schemas.microsoft.com/office/drawing/2014/main" val="2120793510"/>
                    </a:ext>
                  </a:extLst>
                </a:gridCol>
              </a:tblGrid>
              <a:tr h="3378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Nova Mono"/>
                          <a:cs typeface="Nova Mono"/>
                        </a:rPr>
                        <a:t>№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Название эндпоинта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URI Endpoint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HTTP Метод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Доступ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Действия на сервере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331391"/>
                  </a:ext>
                </a:extLst>
              </a:tr>
              <a:tr h="4783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Форма входа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auth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GET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неавторизованный пользователь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Рендер страницы входа в систему (index.html). Проверка сессии: если пользователь авторизован, редирект на /stats; иначе отображение формы логина.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87450"/>
                  </a:ext>
                </a:extLst>
              </a:tr>
              <a:tr h="618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Вход в систему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ru-RU" sz="1100" dirty="0" err="1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login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POST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неавторизованный пользователь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Обработка данных формы (логин, пароль), аутентификация через Supabase. При успехе - создание сессии, редирект на /stats; при ошибке - отображение сообщения об ошибке на странице входа.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994339"/>
                  </a:ext>
                </a:extLst>
              </a:tr>
              <a:tr h="618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Статистика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/stats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GET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администратор</a:t>
                      </a: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техник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Получение общей статистики (потребление энергии, сеансы, пользователи) из Supabase (таблицы bookings, machines и т.д.). Рендер страницы статистики (stats.html) с графиками и метриками.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298821"/>
                  </a:ext>
                </a:extLst>
              </a:tr>
              <a:tr h="618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Техника (машины)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100">
                          <a:effectLst/>
                          <a:latin typeface="Roboto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machines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GET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администратор</a:t>
                      </a: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техник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Получение списка стиральных и сушильных машин из Supabase (таблица machines). Рендер страницы управления техникой (machines.html) с переключателем типов машин и статусами.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27723"/>
                  </a:ext>
                </a:extLst>
              </a:tr>
              <a:tr h="618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Бронирование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/booking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GET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Администратор</a:t>
                      </a: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техник</a:t>
                      </a: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неавторизованный пользователь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Получение списка бронирований с </a:t>
                      </a: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joins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(</a:t>
                      </a: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residents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machines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) из </a:t>
                      </a:r>
                      <a:r>
                        <a:rPr lang="en-US" sz="1100" dirty="0" err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Supabase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(таблица </a:t>
                      </a: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bookings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). Рендер страницы бронирования (booking.html) с фильтрами, сортировкой и пагинацией.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48671"/>
                  </a:ext>
                </a:extLst>
              </a:tr>
              <a:tr h="7592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6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Фильтры бронирования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/booking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POST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Администратор</a:t>
                      </a: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техник</a:t>
                      </a: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неавторизованный пользователь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Обработка фильтров (резидент, тип машины, статус, даты) для таблицы бронирований. Обновление данных из Supabase и возврат отфильтрованного списка для рендера.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212966"/>
                  </a:ext>
                </a:extLst>
              </a:tr>
              <a:tr h="618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7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Массовая отмена бронирований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/booking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POST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администратор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Обработка данных для массовой отмены (дата, тип машины). Поиск и обновление статусов в Supabase (таблица bookings на 'cancelled'). Редирект на /booking с обновлением таблицы.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95214"/>
                  </a:ext>
                </a:extLst>
              </a:tr>
              <a:tr h="4783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8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Отмена одного бронирования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booking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POST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администратор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Обновление статуса конкретного бронирования по bookingID в Supabase на 'cancelled'. Редирект на /booking с обновлением таблицы.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43276"/>
                  </a:ext>
                </a:extLst>
              </a:tr>
              <a:tr h="4783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9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Уведомления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notifications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GET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Администратор</a:t>
                      </a: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техник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Получение списка уведомлений из Supabase (связанные с residents, machines). Рендер страницы уведомлений (notifications.html) с фильтрами, сортировкой и пагинацией.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983039"/>
                  </a:ext>
                </a:extLst>
              </a:tr>
              <a:tr h="618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10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Фильтры уведомлений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notifications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POST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Администратор</a:t>
                      </a: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техник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Обработка фильтров (резидент, тип машины, комната, даты) для таблицы уведомлений. Обновление данных из Supabase и возврат отфильтрованного списка для рендера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1320"/>
                  </a:ext>
                </a:extLst>
              </a:tr>
              <a:tr h="3378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11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Выход из системы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/logout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GET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Администратор</a:t>
                      </a: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техник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Завершение сессии через </a:t>
                      </a:r>
                      <a:r>
                        <a:rPr lang="ru-RU" sz="1100" dirty="0" err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Supabase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(</a:t>
                      </a:r>
                      <a:r>
                        <a:rPr lang="ru-RU" sz="1100" dirty="0" err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signOut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). Очистка локального хранилища, </a:t>
                      </a:r>
                      <a:r>
                        <a:rPr lang="ru-RU" sz="1100" dirty="0" err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редирект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на /</a:t>
                      </a: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booking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2603" marR="22603" marT="22603" marB="2260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19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850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Таблица веб-страниц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62237"/>
              </p:ext>
            </p:extLst>
          </p:nvPr>
        </p:nvGraphicFramePr>
        <p:xfrm>
          <a:off x="1254376" y="829339"/>
          <a:ext cx="12121648" cy="7098700"/>
        </p:xfrm>
        <a:graphic>
          <a:graphicData uri="http://schemas.openxmlformats.org/drawingml/2006/table">
            <a:tbl>
              <a:tblPr/>
              <a:tblGrid>
                <a:gridCol w="314168">
                  <a:extLst>
                    <a:ext uri="{9D8B030D-6E8A-4147-A177-3AD203B41FA5}">
                      <a16:colId xmlns:a16="http://schemas.microsoft.com/office/drawing/2014/main" val="2980403619"/>
                    </a:ext>
                  </a:extLst>
                </a:gridCol>
                <a:gridCol w="1688652">
                  <a:extLst>
                    <a:ext uri="{9D8B030D-6E8A-4147-A177-3AD203B41FA5}">
                      <a16:colId xmlns:a16="http://schemas.microsoft.com/office/drawing/2014/main" val="169570381"/>
                    </a:ext>
                  </a:extLst>
                </a:gridCol>
                <a:gridCol w="4201997">
                  <a:extLst>
                    <a:ext uri="{9D8B030D-6E8A-4147-A177-3AD203B41FA5}">
                      <a16:colId xmlns:a16="http://schemas.microsoft.com/office/drawing/2014/main" val="2618257148"/>
                    </a:ext>
                  </a:extLst>
                </a:gridCol>
                <a:gridCol w="2945325">
                  <a:extLst>
                    <a:ext uri="{9D8B030D-6E8A-4147-A177-3AD203B41FA5}">
                      <a16:colId xmlns:a16="http://schemas.microsoft.com/office/drawing/2014/main" val="3819459676"/>
                    </a:ext>
                  </a:extLst>
                </a:gridCol>
                <a:gridCol w="2971506">
                  <a:extLst>
                    <a:ext uri="{9D8B030D-6E8A-4147-A177-3AD203B41FA5}">
                      <a16:colId xmlns:a16="http://schemas.microsoft.com/office/drawing/2014/main" val="3608444631"/>
                    </a:ext>
                  </a:extLst>
                </a:gridCol>
              </a:tblGrid>
              <a:tr h="4635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Nova Mono"/>
                          <a:cs typeface="Nova Mono"/>
                        </a:rPr>
                        <a:t>№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Название веб-страницы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Описание и назначение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Входные endpoint-ы и методы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Выходные endpoint-ы и методы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899661"/>
                  </a:ext>
                </a:extLst>
              </a:tr>
              <a:tr h="8489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Вход в систему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Страница входа в админ-панель с формой логина и пароля администратора, опцией "Запомнить меня", индикатором загрузки и информацией о защищенном соединении.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</a:t>
                      </a: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auth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POST /login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GET </a:t>
                      </a: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/signup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086769"/>
                  </a:ext>
                </a:extLst>
              </a:tr>
              <a:tr h="1234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Статистика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Общая статистика по системе: выбор периода, ключевые метрики (потребление энергии, сеансы, пользователи, эффективность), графики (потребление, распределение нагрузки, статусы бронирований, пиковая нагрузка), детальная статистика, топ активных резидентов.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/stats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/machines,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/booking, 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/notifications,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/logout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135994"/>
                  </a:ext>
                </a:extLst>
              </a:tr>
              <a:tr h="1234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Техника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Управление техникой: статистика активных машин и потребления, переключатель между стиральными и сушильными машинами, список машин с именами, статусами (в работе, свободна, в ожидании, не работает) и потреблением.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/machines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/stats,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/booking,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/notifications,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/logout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049985"/>
                  </a:ext>
                </a:extLst>
              </a:tr>
              <a:tr h="14270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Бронирование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Таблица бронирований с фильтрами (резидент, тип машины, статус, даты), сортировкой (по времени начала/окончания), пагинацией, статистикой, кнопкой обновления, массовой отменой (по дате, типу машины или конкретной), модальными окнами подтверждения отмены (одиночной и массовой).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/booking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/stats, 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/machines, 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/notifications, 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/logout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145890"/>
                  </a:ext>
                </a:extLst>
              </a:tr>
              <a:tr h="8489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Уведомления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Таблица уведомлений с фильтрами (резидент, тип машины, номер комнаты, даты создания), сортировкой (по типу машины, дате создания), пагинацией, статистикой, кнопкой обновления.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/notifications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/stats, 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/machines, 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/booking, 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/logout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942030"/>
                  </a:ext>
                </a:extLst>
              </a:tr>
              <a:tr h="1041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6.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Навигационная панель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Кнопки навигации по разделам (Статистика, Техника, Бронирование, Уведомления, Пользователи).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ru-RU" sz="11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/stats,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/machines,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/booking, 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 /</a:t>
                      </a: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notifications</a:t>
                      </a:r>
                      <a:r>
                        <a:rPr lang="ru-RU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Consolas" panose="020B0609020204030204" pitchFamily="49" charset="0"/>
                          <a:cs typeface="Consolas" panose="020B0609020204030204" pitchFamily="49" charset="0"/>
                        </a:rPr>
                        <a:t>GET /logout</a:t>
                      </a:r>
                      <a:endParaRPr lang="ru-RU" sz="11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576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374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Схема переходов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1342163" y="1058629"/>
            <a:ext cx="11946073" cy="660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70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Макет страницы «Бронирование»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297" y="1009716"/>
            <a:ext cx="11901805" cy="6918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8758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Репозиторий проекта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54" y="1597831"/>
            <a:ext cx="14084091" cy="47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68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3770"/>
            <a:ext cx="914400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ru-RU" sz="3700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Распределение обязанностей</a:t>
            </a:r>
            <a:endParaRPr lang="en-US" sz="3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D53A59E-CDA4-18C2-4E0A-0231F40EDC68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AC2A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11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233264" y="1294879"/>
            <a:ext cx="8669480" cy="1833457"/>
            <a:chOff x="745700" y="4925262"/>
            <a:chExt cx="6249105" cy="1770364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0" y="4925262"/>
              <a:ext cx="6249105" cy="1770364"/>
              <a:chOff x="745700" y="4925262"/>
              <a:chExt cx="6249105" cy="1770364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0" y="4925262"/>
                <a:ext cx="6249105" cy="1770364"/>
                <a:chOff x="770929" y="4944188"/>
                <a:chExt cx="7014062" cy="1770364"/>
              </a:xfrm>
            </p:grpSpPr>
            <p:sp>
              <p:nvSpPr>
                <p:cNvPr id="21" name="Shape 2"/>
                <p:cNvSpPr/>
                <p:nvPr/>
              </p:nvSpPr>
              <p:spPr>
                <a:xfrm>
                  <a:off x="793791" y="4944188"/>
                  <a:ext cx="6991200" cy="1770364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22" name="Shape 3"/>
                <p:cNvSpPr/>
                <p:nvPr/>
              </p:nvSpPr>
              <p:spPr>
                <a:xfrm>
                  <a:off x="770929" y="4944189"/>
                  <a:ext cx="96558" cy="1770363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20" name="Text 4"/>
              <p:cNvSpPr/>
              <p:nvPr/>
            </p:nvSpPr>
            <p:spPr>
              <a:xfrm>
                <a:off x="844619" y="5027572"/>
                <a:ext cx="1288493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Якушев С.А.: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17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8" name="Text 6"/>
            <p:cNvSpPr/>
            <p:nvPr/>
          </p:nvSpPr>
          <p:spPr>
            <a:xfrm>
              <a:off x="905720" y="5364782"/>
              <a:ext cx="5930829" cy="13167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Общая архитектура проекта и координация команды</a:t>
              </a:r>
              <a:r>
                <a:rPr lang="en-US" dirty="0">
                  <a:latin typeface="Inter" panose="020B0604020202020204" charset="0"/>
                  <a:ea typeface="Inter" panose="020B0604020202020204" charset="0"/>
                </a:rPr>
                <a:t>;</a:t>
              </a:r>
              <a:endParaRPr lang="ru-RU" dirty="0">
                <a:latin typeface="Inter" panose="020B0604020202020204" charset="0"/>
                <a:ea typeface="Inter" panose="020B0604020202020204" charset="0"/>
              </a:endParaRP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 err="1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Backend</a:t>
              </a:r>
              <a:r>
                <a:rPr lang="ru-RU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-интеграция с Supabase + все RPC-запросы</a:t>
              </a:r>
              <a:r>
                <a:rPr lang="en-US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;</a:t>
              </a:r>
              <a:endParaRPr lang="ru-RU" dirty="0">
                <a:latin typeface="Inter" panose="020B0604020202020204" charset="0"/>
                <a:ea typeface="Inter" panose="020B0604020202020204" charset="0"/>
                <a:cs typeface="Manrope" pitchFamily="34" charset="-120"/>
              </a:endParaRP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Структура базы данных (все таблицы и связи);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Управление репозиторием </a:t>
              </a:r>
              <a:r>
                <a:rPr lang="en-US" dirty="0">
                  <a:latin typeface="Inter" panose="020B0604020202020204" charset="0"/>
                  <a:ea typeface="Inter" panose="020B0604020202020204" charset="0"/>
                </a:rPr>
                <a:t>GitHub</a:t>
              </a: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.</a:t>
              </a:r>
            </a:p>
          </p:txBody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264334" y="3311527"/>
            <a:ext cx="8615332" cy="1721174"/>
            <a:chOff x="745700" y="4925262"/>
            <a:chExt cx="6249105" cy="1756304"/>
          </a:xfrm>
        </p:grpSpPr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0" y="4925262"/>
              <a:ext cx="6249105" cy="1734866"/>
              <a:chOff x="745700" y="4925262"/>
              <a:chExt cx="6249105" cy="1734866"/>
            </a:xfrm>
          </p:grpSpPr>
          <p:grpSp>
            <p:nvGrpSpPr>
              <p:cNvPr id="59" name="Группа 58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0" y="4925262"/>
                <a:ext cx="6249105" cy="1734866"/>
                <a:chOff x="770929" y="4944188"/>
                <a:chExt cx="7014062" cy="1734866"/>
              </a:xfrm>
            </p:grpSpPr>
            <p:sp>
              <p:nvSpPr>
                <p:cNvPr id="61" name="Shape 2"/>
                <p:cNvSpPr/>
                <p:nvPr/>
              </p:nvSpPr>
              <p:spPr>
                <a:xfrm>
                  <a:off x="793791" y="4944188"/>
                  <a:ext cx="6991200" cy="1734866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62" name="Shape 3"/>
                <p:cNvSpPr/>
                <p:nvPr/>
              </p:nvSpPr>
              <p:spPr>
                <a:xfrm>
                  <a:off x="770929" y="4944189"/>
                  <a:ext cx="88166" cy="1734865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60" name="Text 4"/>
              <p:cNvSpPr/>
              <p:nvPr/>
            </p:nvSpPr>
            <p:spPr>
              <a:xfrm>
                <a:off x="844619" y="5027572"/>
                <a:ext cx="1288493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Сахаров В.В.: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57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58" name="Text 6"/>
            <p:cNvSpPr/>
            <p:nvPr/>
          </p:nvSpPr>
          <p:spPr>
            <a:xfrm>
              <a:off x="905720" y="5364782"/>
              <a:ext cx="5930829" cy="13167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Модуль «Бронирование»;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Документация функционала и страниц;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 err="1">
                  <a:latin typeface="Inter" panose="020B0604020202020204" charset="0"/>
                  <a:ea typeface="Inter" panose="020B0604020202020204" charset="0"/>
                </a:rPr>
                <a:t>Use</a:t>
              </a: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-Case диаграмма и схема переходов;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en-US" dirty="0" err="1">
                  <a:latin typeface="Inter" panose="020B0604020202020204" charset="0"/>
                  <a:ea typeface="Inter" panose="020B0604020202020204" charset="0"/>
                </a:rPr>
                <a:t>Работа</a:t>
              </a:r>
              <a:r>
                <a:rPr lang="en-US" dirty="0">
                  <a:latin typeface="Inter" panose="020B0604020202020204" charset="0"/>
                  <a:ea typeface="Inter" panose="020B0604020202020204" charset="0"/>
                </a:rPr>
                <a:t> с </a:t>
              </a:r>
              <a:r>
                <a:rPr lang="en-US" dirty="0" err="1">
                  <a:latin typeface="Inter" panose="020B0604020202020204" charset="0"/>
                  <a:ea typeface="Inter" panose="020B0604020202020204" charset="0"/>
                </a:rPr>
                <a:t>таблицами</a:t>
              </a:r>
              <a:r>
                <a:rPr lang="en-US" dirty="0">
                  <a:latin typeface="Inter" panose="020B0604020202020204" charset="0"/>
                  <a:ea typeface="Inter" panose="020B0604020202020204" charset="0"/>
                </a:rPr>
                <a:t> booking, notifications, residents и machines</a:t>
              </a: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.</a:t>
              </a: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275387" y="5191162"/>
            <a:ext cx="8615331" cy="1833456"/>
            <a:chOff x="745701" y="4925263"/>
            <a:chExt cx="6249104" cy="1783354"/>
          </a:xfrm>
        </p:grpSpPr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1" y="4925263"/>
              <a:ext cx="6249104" cy="1783354"/>
              <a:chOff x="745701" y="4925263"/>
              <a:chExt cx="6249104" cy="1783354"/>
            </a:xfrm>
          </p:grpSpPr>
          <p:grpSp>
            <p:nvGrpSpPr>
              <p:cNvPr id="67" name="Группа 66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1" y="4925263"/>
                <a:ext cx="6249104" cy="1783354"/>
                <a:chOff x="770930" y="4944189"/>
                <a:chExt cx="7014061" cy="1783354"/>
              </a:xfrm>
            </p:grpSpPr>
            <p:sp>
              <p:nvSpPr>
                <p:cNvPr id="69" name="Shape 2"/>
                <p:cNvSpPr/>
                <p:nvPr/>
              </p:nvSpPr>
              <p:spPr>
                <a:xfrm>
                  <a:off x="793791" y="4944189"/>
                  <a:ext cx="6991200" cy="1783354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70" name="Shape 3"/>
                <p:cNvSpPr/>
                <p:nvPr/>
              </p:nvSpPr>
              <p:spPr>
                <a:xfrm>
                  <a:off x="770930" y="4944189"/>
                  <a:ext cx="88166" cy="1783354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68" name="Text 4"/>
              <p:cNvSpPr/>
              <p:nvPr/>
            </p:nvSpPr>
            <p:spPr>
              <a:xfrm>
                <a:off x="844619" y="5027572"/>
                <a:ext cx="1288493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Ильин П.Е.: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65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66" name="Text 6"/>
            <p:cNvSpPr/>
            <p:nvPr/>
          </p:nvSpPr>
          <p:spPr>
            <a:xfrm>
              <a:off x="905720" y="5364782"/>
              <a:ext cx="5930829" cy="13167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Модуль «Статистика»;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Страница «Техника»;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Дизайн интерфейса, CSS-стили и адаптивность;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Макеты страниц, визуальные схемы (</a:t>
              </a:r>
              <a:r>
                <a:rPr lang="ru-RU" dirty="0" err="1">
                  <a:latin typeface="Inter" panose="020B0604020202020204" charset="0"/>
                  <a:ea typeface="Inter" panose="020B0604020202020204" charset="0"/>
                </a:rPr>
                <a:t>drawio</a:t>
              </a:r>
              <a:r>
                <a:rPr lang="ru-RU" dirty="0">
                  <a:latin typeface="Inter" panose="020B0604020202020204" charset="0"/>
                  <a:ea typeface="Inter" panose="020B0604020202020204" charset="0"/>
                </a:rPr>
                <a:t>) и презентация.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C603-EACB-E77C-1530-01D41CE4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2924DC3-A192-2E19-801B-8696ED91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85A3E3-A753-0DB5-1D7C-84B2C7220A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0100" y1="37037" x2="40200" y2="47795"/>
                        <a14:foregroundMark x1="40200" y1="47795" x2="55300" y2="65432"/>
                        <a14:foregroundMark x1="55300" y1="65432" x2="57700" y2="41623"/>
                        <a14:foregroundMark x1="57700" y1="41623" x2="48800" y2="34744"/>
                        <a14:foregroundMark x1="48800" y1="34744" x2="47400" y2="35626"/>
                        <a14:foregroundMark x1="46300" y1="32804" x2="47200" y2="43915"/>
                        <a14:foregroundMark x1="47200" y1="43915" x2="42800" y2="36861"/>
                        <a14:foregroundMark x1="42800" y1="36861" x2="37700" y2="39330"/>
                        <a14:foregroundMark x1="44000" y1="35097" x2="51200" y2="40035"/>
                        <a14:foregroundMark x1="51200" y1="40035" x2="47800" y2="37037"/>
                        <a14:foregroundMark x1="46300" y1="41623" x2="47800" y2="39506"/>
                        <a14:foregroundMark x1="40400" y1="38624" x2="45100" y2="46737"/>
                        <a14:foregroundMark x1="45100" y1="46737" x2="50700" y2="43210"/>
                        <a14:foregroundMark x1="50700" y1="43210" x2="51100" y2="40212"/>
                        <a14:foregroundMark x1="39400" y1="40564" x2="44500" y2="46737"/>
                        <a14:foregroundMark x1="44500" y1="46737" x2="54100" y2="51675"/>
                        <a14:foregroundMark x1="54100" y1="51675" x2="52900" y2="46737"/>
                        <a14:foregroundMark x1="48300" y1="44092" x2="47700" y2="44092"/>
                        <a14:foregroundMark x1="42800" y1="40741" x2="51500" y2="42504"/>
                        <a14:foregroundMark x1="51500" y1="42504" x2="42500" y2="36508"/>
                        <a14:foregroundMark x1="42500" y1="36508" x2="46800" y2="41799"/>
                        <a14:foregroundMark x1="46800" y1="41799" x2="50800" y2="40212"/>
                        <a14:foregroundMark x1="51100" y1="40212" x2="49200" y2="45326"/>
                        <a14:foregroundMark x1="49400" y1="44974" x2="50500" y2="46737"/>
                        <a14:foregroundMark x1="49700" y1="45326" x2="49100" y2="49735"/>
                        <a14:foregroundMark x1="50700" y1="46737" x2="50400" y2="52028"/>
                        <a14:foregroundMark x1="51600" y1="43210" x2="51400" y2="47443"/>
                        <a14:foregroundMark x1="51900" y1="45855" x2="49200" y2="48325"/>
                        <a14:foregroundMark x1="47800" y1="46208" x2="47800" y2="46208"/>
                        <a14:foregroundMark x1="47300" y1="40035" x2="49600" y2="48677"/>
                        <a14:foregroundMark x1="49600" y1="48677" x2="52400" y2="44974"/>
                        <a14:foregroundMark x1="51500" y1="40035" x2="50700" y2="432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9383" y="0"/>
            <a:ext cx="2539252" cy="143975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14484" y="569476"/>
            <a:ext cx="7420570" cy="400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 для администрирования 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-бота для записи на стирку</a:t>
            </a:r>
          </a:p>
        </p:txBody>
      </p:sp>
      <p:sp>
        <p:nvSpPr>
          <p:cNvPr id="7" name="Text 1"/>
          <p:cNvSpPr/>
          <p:nvPr/>
        </p:nvSpPr>
        <p:spPr>
          <a:xfrm>
            <a:off x="1114485" y="5290979"/>
            <a:ext cx="7163242" cy="1205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Авторы работы: Студенты КузГТУ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Якушев С.А., 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Сахаров В.В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Ильин П.Е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Ссылка на репозиторий: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https://github.com/Ratarion/stirka_site</a:t>
            </a:r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497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1207</Words>
  <Application>Microsoft Office PowerPoint</Application>
  <PresentationFormat>Произвольный</PresentationFormat>
  <Paragraphs>224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Inter</vt:lpstr>
      <vt:lpstr>Arial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Стас Якушев</cp:lastModifiedBy>
  <cp:revision>39</cp:revision>
  <dcterms:created xsi:type="dcterms:W3CDTF">2025-12-01T13:06:18Z</dcterms:created>
  <dcterms:modified xsi:type="dcterms:W3CDTF">2026-03-04T11:05:31Z</dcterms:modified>
</cp:coreProperties>
</file>