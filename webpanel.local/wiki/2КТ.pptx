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6" r:id="rId4"/>
    <p:sldId id="280" r:id="rId5"/>
    <p:sldId id="283" r:id="rId6"/>
    <p:sldId id="284" r:id="rId7"/>
    <p:sldId id="285" r:id="rId8"/>
    <p:sldId id="281" r:id="rId9"/>
    <p:sldId id="288" r:id="rId10"/>
    <p:sldId id="289" r:id="rId11"/>
    <p:sldId id="287" r:id="rId12"/>
    <p:sldId id="290" r:id="rId13"/>
    <p:sldId id="260" r:id="rId14"/>
    <p:sldId id="275" r:id="rId15"/>
  </p:sldIdLst>
  <p:sldSz cx="14630400" cy="8229600"/>
  <p:notesSz cx="8229600" cy="14630400"/>
  <p:embeddedFontLst>
    <p:embeddedFont>
      <p:font typeface="Inter" panose="020B0604020202020204" charset="0"/>
      <p:regular r:id="rId17"/>
    </p:embeddedFont>
    <p:embeddedFont>
      <p:font typeface="Roboto" panose="02000000000000000000" pitchFamily="2" charset="0"/>
      <p:regular r:id="rId18"/>
      <p:bold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CA42B75-FCC7-4ED4-8ED1-4D3B1B0434ED}">
          <p14:sldIdLst>
            <p14:sldId id="256"/>
            <p14:sldId id="257"/>
            <p14:sldId id="286"/>
          </p14:sldIdLst>
        </p14:section>
        <p14:section name="Продолжение" id="{4AC4F3C8-C391-4853-B9B3-B2E4EA95B721}">
          <p14:sldIdLst>
            <p14:sldId id="280"/>
            <p14:sldId id="283"/>
            <p14:sldId id="284"/>
            <p14:sldId id="285"/>
            <p14:sldId id="281"/>
            <p14:sldId id="288"/>
            <p14:sldId id="289"/>
            <p14:sldId id="287"/>
            <p14:sldId id="290"/>
            <p14:sldId id="260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7B122B-79F7-5756-D65A-822D8E86CB8E}" name="Стас Якушев" initials="СЯ" userId="1acfbfbb27ec45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2AB"/>
    <a:srgbClr val="FF7047"/>
    <a:srgbClr val="FCBEAF"/>
    <a:srgbClr val="FF9576"/>
    <a:srgbClr val="60D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474" autoAdjust="0"/>
  </p:normalViewPr>
  <p:slideViewPr>
    <p:cSldViewPr snapToGrid="0" snapToObjects="1">
      <p:cViewPr varScale="1">
        <p:scale>
          <a:sx n="60" d="100"/>
          <a:sy n="60" d="100"/>
        </p:scale>
        <p:origin x="7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2346" y="-9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32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4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550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3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8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8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013D-086F-11BF-0396-32C6FCB3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D2F67-EDA1-3C0E-830B-C714C2E67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60661-B7EB-8E9A-DD60-7220E0E78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62C86-3DCB-2A15-B3BA-0CB2A4161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96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1C92-F117-9B66-4049-2CE68E57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E04D5-6089-B0B4-A480-3E9D2565C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9DEFB-11E8-1344-4B43-88E769303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F718D-F250-5959-21C1-D76151E44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35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4F59-624B-3AB1-C9E9-51DBB4DF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AAE7E-FA90-DC0B-40B9-12850D1A1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B6D9F-6CE0-2C98-DFC9-B4D65CC8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C208-0B2A-BF30-4B50-3CDD8931D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83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2043-F4C0-3CB3-E19A-918C212F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A3D46-B6CC-C31A-5752-CAF812B35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34E7D-A425-E707-1AEA-C5DA04168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98A59-2C4E-F3CD-07E0-B04967E1F9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4C3E-3A94-431C-0055-CAE81968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03C68-BA27-6E21-A6CA-D1385CF9D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14C69-79A3-A3A7-0CAF-17486B0E6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FBDC-7818-CB69-26EF-D9C18608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6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4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7C85DB-AC5C-5EAD-098D-2BE56428B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8695"/>
            <a:ext cx="14630400" cy="248090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1424" y="2576678"/>
            <a:ext cx="68875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Цель</a:t>
            </a:r>
            <a:endParaRPr lang="en-US" sz="39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A08353-4EE1-267D-2F9B-3531997A012A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2</a:t>
            </a:r>
            <a:endParaRPr lang="ru-RU" sz="1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521645" y="3375800"/>
            <a:ext cx="13644532" cy="2788041"/>
            <a:chOff x="745701" y="4925263"/>
            <a:chExt cx="6249104" cy="1756303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189197"/>
              <a:chOff x="745701" y="4925263"/>
              <a:chExt cx="6249104" cy="1189197"/>
            </a:xfrm>
          </p:grpSpPr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189197"/>
                <a:chOff x="770930" y="4944189"/>
                <a:chExt cx="7014061" cy="1189197"/>
              </a:xfrm>
            </p:grpSpPr>
            <p:sp>
              <p:nvSpPr>
                <p:cNvPr id="38" name="Shape 2"/>
                <p:cNvSpPr/>
                <p:nvPr/>
              </p:nvSpPr>
              <p:spPr>
                <a:xfrm>
                  <a:off x="793791" y="4944189"/>
                  <a:ext cx="6991200" cy="1189197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39" name="Shape 3"/>
                <p:cNvSpPr/>
                <p:nvPr/>
              </p:nvSpPr>
              <p:spPr>
                <a:xfrm>
                  <a:off x="770930" y="4944189"/>
                  <a:ext cx="88166" cy="1189197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37" name="Text 4"/>
              <p:cNvSpPr/>
              <p:nvPr/>
            </p:nvSpPr>
            <p:spPr>
              <a:xfrm>
                <a:off x="904420" y="5062042"/>
                <a:ext cx="1694201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</a:rPr>
                  <a:t>Основная цель приложения: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34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35" name="Text 6"/>
            <p:cNvSpPr/>
            <p:nvPr/>
          </p:nvSpPr>
          <p:spPr>
            <a:xfrm>
              <a:off x="905720" y="5449471"/>
              <a:ext cx="5930829" cy="12320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  <a:buSzPct val="100000"/>
              </a:pPr>
              <a:endParaRPr lang="ru-RU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868197" y="4010753"/>
            <a:ext cx="130884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создать удобную панель мониторинга в реальном времени, где администраторы и технические специалисты могут централизованно управлять всеми бронированиями, отслеживать состояние стиральных машин, получать мгновенные уведомления о поломках и формировать аналитику.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Структура файлов проекта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62298"/>
              </p:ext>
            </p:extLst>
          </p:nvPr>
        </p:nvGraphicFramePr>
        <p:xfrm>
          <a:off x="2407861" y="1021694"/>
          <a:ext cx="9814677" cy="6327658"/>
        </p:xfrm>
        <a:graphic>
          <a:graphicData uri="http://schemas.openxmlformats.org/drawingml/2006/table">
            <a:tbl>
              <a:tblPr/>
              <a:tblGrid>
                <a:gridCol w="496945">
                  <a:extLst>
                    <a:ext uri="{9D8B030D-6E8A-4147-A177-3AD203B41FA5}">
                      <a16:colId xmlns:a16="http://schemas.microsoft.com/office/drawing/2014/main" val="2980403619"/>
                    </a:ext>
                  </a:extLst>
                </a:gridCol>
                <a:gridCol w="2671082">
                  <a:extLst>
                    <a:ext uri="{9D8B030D-6E8A-4147-A177-3AD203B41FA5}">
                      <a16:colId xmlns:a16="http://schemas.microsoft.com/office/drawing/2014/main" val="169570381"/>
                    </a:ext>
                  </a:extLst>
                </a:gridCol>
                <a:gridCol w="6646650">
                  <a:extLst>
                    <a:ext uri="{9D8B030D-6E8A-4147-A177-3AD203B41FA5}">
                      <a16:colId xmlns:a16="http://schemas.microsoft.com/office/drawing/2014/main" val="2618257148"/>
                    </a:ext>
                  </a:extLst>
                </a:gridCol>
              </a:tblGrid>
              <a:tr h="4371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Nova Mono"/>
                          <a:cs typeface="Nova Mono"/>
                        </a:rPr>
                        <a:t>№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Название файла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Назначение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99661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composer.json composer.lock</a:t>
                      </a:r>
                      <a:endParaRPr lang="ru-RU" sz="1800" dirty="0">
                        <a:effectLst/>
                        <a:latin typeface="Roboto" panose="020B0604020202020204" charset="0"/>
                        <a:ea typeface="Roboto" panose="020B0604020202020204" charset="0"/>
                        <a:cs typeface="Roboto" panose="020B060402020202020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Управление зависимостями.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086769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do_connect.php 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Точка безопасного подключения к базе Supabase.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135994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stats.php 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Вывод статистики и графиков.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49985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machines.php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Управление</a:t>
                      </a:r>
                      <a:r>
                        <a:rPr lang="ru-RU" sz="1800" baseline="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техникой.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145890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booking.php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Содержит таблицу бронирований с фильтрами и отменами.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942030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6.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notifications.php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Работает с уведомлениями о поломках. 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57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13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«Статистика»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79" y="1058629"/>
            <a:ext cx="13091243" cy="65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5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«Техника»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95" y="1058629"/>
            <a:ext cx="13021011" cy="65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2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«Бронирование»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10" y="1080000"/>
            <a:ext cx="12875980" cy="643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4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«Уведомления»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0" y="1080000"/>
            <a:ext cx="12926801" cy="64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3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Репозиторий проекта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8</a:t>
            </a:r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20" y="1237485"/>
            <a:ext cx="13460961" cy="645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6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8BD5-D6BB-8E4F-EB84-E918B45D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F86621A-5DDF-D00E-ECDA-367A186AD0EB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СУБД с данными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055F55E-9CF7-8BDC-B06E-518F650EB32E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82279BD1-1DB8-5512-99B1-3EA891E44000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E1BF75E0-F94B-81A5-A572-25AF3622C1F4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985F71AE-2C95-7A43-1E4D-9B930238D311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3B5ADD0-AE26-D3B2-AB94-538D8F2DBE21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18427D-3021-F9B2-888A-DBEBFE574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813480" y="1177682"/>
            <a:ext cx="12736920" cy="33871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63BE66-A62D-E7CA-3DBA-973A993E6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151" y="4683916"/>
            <a:ext cx="10936097" cy="338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6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7AB3-28E2-EEF4-1E6D-666545E2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615D89C-D28C-4232-36EF-5856622EF269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Защита от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XSS</a:t>
            </a: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89574A62-DA9B-8D08-D32F-39F110BDDB54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F8A5003B-FE86-48B9-5E6A-003A27124CB9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183373EE-C99F-A7DF-68FD-F0F7A1AD180D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07975F2E-9FBC-D8CD-7354-F3153F6C8566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A279537-6A75-F0D1-597D-8F183A24C4CD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BA1FFC-B327-3F1F-4422-D9FC92A9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27"/>
          <a:stretch>
            <a:fillRect/>
          </a:stretch>
        </p:blipFill>
        <p:spPr>
          <a:xfrm>
            <a:off x="2588205" y="829339"/>
            <a:ext cx="9603795" cy="30130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69F664-F16E-523B-018B-3F17C099FB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97"/>
          <a:stretch>
            <a:fillRect/>
          </a:stretch>
        </p:blipFill>
        <p:spPr>
          <a:xfrm>
            <a:off x="2488221" y="3869148"/>
            <a:ext cx="9345329" cy="38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5AA5-EF3A-F811-C279-D5D9D2E9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83033DD-B058-CBCD-6105-0C5EE947D8CC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Защита от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SQL </a:t>
            </a: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инъекций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82F546A8-8A73-83DE-7B06-4C35F23D4904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2F362A1F-9E5D-1B08-4CF1-26F92D093E68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B2480674-0278-202B-C99C-4A2FECE4C25D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AACCBD4E-ACDF-692B-AF80-F848DCF81287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8C562AE-0E3B-0E03-C736-93C0B63677F2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387E5F-2E69-7F9A-96AE-AC3ADD93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64"/>
          <a:stretch>
            <a:fillRect/>
          </a:stretch>
        </p:blipFill>
        <p:spPr>
          <a:xfrm>
            <a:off x="2190304" y="666268"/>
            <a:ext cx="10450875" cy="740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2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C453-BA7C-5157-2AB7-2FFE3471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A7E8FAC-142F-8E7A-CB29-34E0F7DF0C5A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Единая точка входа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AD252D89-3B5B-8501-0730-83506D4C71A7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E6C54EB9-9BE5-1E05-7F66-061699D405D6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8F0BB7D4-5B73-F18E-ECF7-CDCB4C1735D1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63931B2C-AD70-E54D-8AEE-70C46D4C03D8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AEA7E38-0BAF-DFDF-CAED-D97258633359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919C46-55BB-CA68-B41E-37A27AAE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210" y="1058629"/>
            <a:ext cx="7916380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9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3770"/>
            <a:ext cx="914400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ru-RU" sz="3700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Распределение обязанностей</a:t>
            </a:r>
            <a:endParaRPr lang="en-US" sz="3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D53A59E-CDA4-18C2-4E0A-0231F40EDC68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AC2A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11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31" y="1236678"/>
            <a:ext cx="8615334" cy="2083631"/>
            <a:chOff x="745699" y="4925263"/>
            <a:chExt cx="6249106" cy="1683830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699" y="4925263"/>
              <a:ext cx="6249106" cy="1683830"/>
              <a:chOff x="745699" y="4925263"/>
              <a:chExt cx="6249106" cy="1683830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699" y="4925263"/>
                <a:ext cx="6249106" cy="1683830"/>
                <a:chOff x="770928" y="4944189"/>
                <a:chExt cx="7014063" cy="1683830"/>
              </a:xfrm>
            </p:grpSpPr>
            <p:sp>
              <p:nvSpPr>
                <p:cNvPr id="21" name="Shape 2"/>
                <p:cNvSpPr/>
                <p:nvPr/>
              </p:nvSpPr>
              <p:spPr>
                <a:xfrm>
                  <a:off x="793791" y="4944189"/>
                  <a:ext cx="6991200" cy="1683830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22" name="Shape 3"/>
                <p:cNvSpPr/>
                <p:nvPr/>
              </p:nvSpPr>
              <p:spPr>
                <a:xfrm>
                  <a:off x="770928" y="4944189"/>
                  <a:ext cx="88169" cy="1683830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2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Якушев С.А.: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1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8" name="Text 6"/>
            <p:cNvSpPr/>
            <p:nvPr/>
          </p:nvSpPr>
          <p:spPr>
            <a:xfrm>
              <a:off x="905720" y="5416286"/>
              <a:ext cx="5930829" cy="10672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Общая архитектура проекта и координация команды;</a:t>
              </a:r>
              <a:endParaRPr lang="ru-RU" sz="2000" dirty="0">
                <a:latin typeface="Inter" panose="020B0604020202020204" charset="0"/>
                <a:ea typeface="Inter" panose="020B0604020202020204" charset="0"/>
                <a:cs typeface="Manrope" pitchFamily="34" charset="-120"/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Страница входа;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Страница «Уведомления»;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Управление репозиторием </a:t>
              </a:r>
              <a:r>
                <a:rPr lang="en-US" sz="2000" dirty="0">
                  <a:latin typeface="Inter" panose="020B0604020202020204" charset="0"/>
                  <a:ea typeface="Inter" panose="020B0604020202020204" charset="0"/>
                </a:rPr>
                <a:t>GitHub</a:t>
              </a: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.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30" y="3762006"/>
            <a:ext cx="8615332" cy="1954768"/>
            <a:chOff x="745700" y="4925263"/>
            <a:chExt cx="6249105" cy="1506737"/>
          </a:xfrm>
        </p:grpSpPr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0" y="4925263"/>
              <a:ext cx="6249105" cy="1189197"/>
              <a:chOff x="745700" y="4925263"/>
              <a:chExt cx="6249105" cy="1189197"/>
            </a:xfrm>
          </p:grpSpPr>
          <p:grpSp>
            <p:nvGrpSpPr>
              <p:cNvPr id="59" name="Группа 5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0" y="4925263"/>
                <a:ext cx="6249105" cy="1189197"/>
                <a:chOff x="770929" y="4944189"/>
                <a:chExt cx="7014062" cy="1189197"/>
              </a:xfrm>
            </p:grpSpPr>
            <p:sp>
              <p:nvSpPr>
                <p:cNvPr id="61" name="Shape 2"/>
                <p:cNvSpPr/>
                <p:nvPr/>
              </p:nvSpPr>
              <p:spPr>
                <a:xfrm>
                  <a:off x="793791" y="4944189"/>
                  <a:ext cx="6991200" cy="1189197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62" name="Shape 3"/>
                <p:cNvSpPr/>
                <p:nvPr/>
              </p:nvSpPr>
              <p:spPr>
                <a:xfrm>
                  <a:off x="770929" y="4944189"/>
                  <a:ext cx="88169" cy="1189197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Сахаров В.В.: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5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8" name="Text 6"/>
            <p:cNvSpPr/>
            <p:nvPr/>
          </p:nvSpPr>
          <p:spPr>
            <a:xfrm>
              <a:off x="905720" y="5415469"/>
              <a:ext cx="5930829" cy="636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«Бронирование»;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«Техника».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28" y="5797664"/>
            <a:ext cx="8615331" cy="1954768"/>
            <a:chOff x="745701" y="4925263"/>
            <a:chExt cx="6249104" cy="1506737"/>
          </a:xfrm>
        </p:grpSpPr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376134"/>
              <a:chOff x="745701" y="4925263"/>
              <a:chExt cx="6249104" cy="1376134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376134"/>
                <a:chOff x="770930" y="4944189"/>
                <a:chExt cx="7014061" cy="1376134"/>
              </a:xfrm>
            </p:grpSpPr>
            <p:sp>
              <p:nvSpPr>
                <p:cNvPr id="69" name="Shape 2"/>
                <p:cNvSpPr/>
                <p:nvPr/>
              </p:nvSpPr>
              <p:spPr>
                <a:xfrm>
                  <a:off x="793791" y="4944189"/>
                  <a:ext cx="6991200" cy="137613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70" name="Shape 3"/>
                <p:cNvSpPr/>
                <p:nvPr/>
              </p:nvSpPr>
              <p:spPr>
                <a:xfrm>
                  <a:off x="770930" y="4944189"/>
                  <a:ext cx="88165" cy="137613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8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Ильин П.Е.: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65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66" name="Text 6"/>
            <p:cNvSpPr/>
            <p:nvPr/>
          </p:nvSpPr>
          <p:spPr>
            <a:xfrm>
              <a:off x="905720" y="5410410"/>
              <a:ext cx="5930829" cy="7496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Страница «Статистика»;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Дизайн интерфейса, CSS-стили;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Презентация.</a:t>
              </a:r>
              <a:endParaRPr lang="ru-RU" sz="2000" dirty="0">
                <a:latin typeface="Inter" panose="020B0604020202020204" charset="0"/>
                <a:ea typeface="Inter" panose="020B0604020202020204" charset="0"/>
                <a:cs typeface="Manrope" pitchFamily="34" charset="-12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C603-EACB-E77C-1530-01D41CE4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924DC3-A192-2E19-801B-8696ED91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85A3E3-A753-0DB5-1D7C-84B2C7220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7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9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348</Words>
  <Application>Microsoft Office PowerPoint</Application>
  <PresentationFormat>Произвольный</PresentationFormat>
  <Paragraphs>87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Inter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Стас Якушев</cp:lastModifiedBy>
  <cp:revision>54</cp:revision>
  <dcterms:created xsi:type="dcterms:W3CDTF">2025-12-01T13:06:18Z</dcterms:created>
  <dcterms:modified xsi:type="dcterms:W3CDTF">2026-04-04T06:24:32Z</dcterms:modified>
</cp:coreProperties>
</file>